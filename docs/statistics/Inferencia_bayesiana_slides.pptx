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1" r:id="rId17"/>
    <p:sldId id="270" r:id="rId18"/>
    <p:sldId id="273" r:id="rId19"/>
    <p:sldId id="285" r:id="rId20"/>
    <p:sldId id="276" r:id="rId21"/>
    <p:sldId id="277" r:id="rId22"/>
    <p:sldId id="279" r:id="rId23"/>
    <p:sldId id="280" r:id="rId24"/>
    <p:sldId id="281" r:id="rId25"/>
    <p:sldId id="282" r:id="rId26"/>
    <p:sldId id="28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4625"/>
  </p:normalViewPr>
  <p:slideViewPr>
    <p:cSldViewPr snapToGrid="0">
      <p:cViewPr varScale="1">
        <p:scale>
          <a:sx n="96" d="100"/>
          <a:sy n="96" d="100"/>
        </p:scale>
        <p:origin x="200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33F9E1-A089-411B-B849-109FE44D2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EE2DE84-44D4-43B0-AE36-179845147088}">
      <dgm:prSet/>
      <dgm:spPr/>
      <dgm:t>
        <a:bodyPr/>
        <a:lstStyle/>
        <a:p>
          <a:r>
            <a:rPr lang="en-US"/>
            <a:t>En Biología, escogemos hacer inferencia bayesiana porque es una herramienta computacional poderosa </a:t>
          </a:r>
        </a:p>
      </dgm:t>
    </dgm:pt>
    <dgm:pt modelId="{5489611E-F514-4362-8FBC-BDCB7135ABDF}" type="parTrans" cxnId="{6C6F6283-897F-4A49-936C-9F6D9AD748D8}">
      <dgm:prSet/>
      <dgm:spPr/>
      <dgm:t>
        <a:bodyPr/>
        <a:lstStyle/>
        <a:p>
          <a:endParaRPr lang="en-US"/>
        </a:p>
      </dgm:t>
    </dgm:pt>
    <dgm:pt modelId="{D083D858-C4B7-4F08-A2F0-D1314C281E07}" type="sibTrans" cxnId="{6C6F6283-897F-4A49-936C-9F6D9AD748D8}">
      <dgm:prSet/>
      <dgm:spPr/>
      <dgm:t>
        <a:bodyPr/>
        <a:lstStyle/>
        <a:p>
          <a:endParaRPr lang="en-US"/>
        </a:p>
      </dgm:t>
    </dgm:pt>
    <dgm:pt modelId="{D51ACEBA-D647-4AFC-B99C-7E46B0E07E35}">
      <dgm:prSet/>
      <dgm:spPr/>
      <dgm:t>
        <a:bodyPr/>
        <a:lstStyle/>
        <a:p>
          <a:r>
            <a:rPr lang="en-US"/>
            <a:t>Utilizar e implementar MCMCs es un arte, toma tiempo y esfuerzo, pero vale la pena por la calidad de la inferencia </a:t>
          </a:r>
        </a:p>
      </dgm:t>
    </dgm:pt>
    <dgm:pt modelId="{801D9430-B0E6-44EC-8A1D-6A36CE354540}" type="parTrans" cxnId="{7AF03C46-A3A9-45B3-898D-69019E51266A}">
      <dgm:prSet/>
      <dgm:spPr/>
      <dgm:t>
        <a:bodyPr/>
        <a:lstStyle/>
        <a:p>
          <a:endParaRPr lang="en-US"/>
        </a:p>
      </dgm:t>
    </dgm:pt>
    <dgm:pt modelId="{8F7D9182-DD47-4E47-BD3A-0EE928032F83}" type="sibTrans" cxnId="{7AF03C46-A3A9-45B3-898D-69019E51266A}">
      <dgm:prSet/>
      <dgm:spPr/>
      <dgm:t>
        <a:bodyPr/>
        <a:lstStyle/>
        <a:p>
          <a:endParaRPr lang="en-US"/>
        </a:p>
      </dgm:t>
    </dgm:pt>
    <dgm:pt modelId="{26444C2E-1B50-794F-AFC0-F4CEF59839E7}" type="pres">
      <dgm:prSet presAssocID="{9F33F9E1-A089-411B-B849-109FE44D2B2D}" presName="linear" presStyleCnt="0">
        <dgm:presLayoutVars>
          <dgm:animLvl val="lvl"/>
          <dgm:resizeHandles val="exact"/>
        </dgm:presLayoutVars>
      </dgm:prSet>
      <dgm:spPr/>
    </dgm:pt>
    <dgm:pt modelId="{5FE0C82F-DEE5-8140-A621-8068EDF8217A}" type="pres">
      <dgm:prSet presAssocID="{9EE2DE84-44D4-43B0-AE36-17984514708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E71B5CE-A08B-0B48-B1A4-416EF52DA788}" type="pres">
      <dgm:prSet presAssocID="{D083D858-C4B7-4F08-A2F0-D1314C281E07}" presName="spacer" presStyleCnt="0"/>
      <dgm:spPr/>
    </dgm:pt>
    <dgm:pt modelId="{73D11F36-D43E-574D-9654-BA48F985F476}" type="pres">
      <dgm:prSet presAssocID="{D51ACEBA-D647-4AFC-B99C-7E46B0E07E3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228212D-9A65-6D4D-B54E-3D34C9028DDA}" type="presOf" srcId="{D51ACEBA-D647-4AFC-B99C-7E46B0E07E35}" destId="{73D11F36-D43E-574D-9654-BA48F985F476}" srcOrd="0" destOrd="0" presId="urn:microsoft.com/office/officeart/2005/8/layout/vList2"/>
    <dgm:cxn modelId="{7AF03C46-A3A9-45B3-898D-69019E51266A}" srcId="{9F33F9E1-A089-411B-B849-109FE44D2B2D}" destId="{D51ACEBA-D647-4AFC-B99C-7E46B0E07E35}" srcOrd="1" destOrd="0" parTransId="{801D9430-B0E6-44EC-8A1D-6A36CE354540}" sibTransId="{8F7D9182-DD47-4E47-BD3A-0EE928032F83}"/>
    <dgm:cxn modelId="{6C6F6283-897F-4A49-936C-9F6D9AD748D8}" srcId="{9F33F9E1-A089-411B-B849-109FE44D2B2D}" destId="{9EE2DE84-44D4-43B0-AE36-179845147088}" srcOrd="0" destOrd="0" parTransId="{5489611E-F514-4362-8FBC-BDCB7135ABDF}" sibTransId="{D083D858-C4B7-4F08-A2F0-D1314C281E07}"/>
    <dgm:cxn modelId="{425EAC8B-5B87-624D-BDD1-AE79CB33F857}" type="presOf" srcId="{9EE2DE84-44D4-43B0-AE36-179845147088}" destId="{5FE0C82F-DEE5-8140-A621-8068EDF8217A}" srcOrd="0" destOrd="0" presId="urn:microsoft.com/office/officeart/2005/8/layout/vList2"/>
    <dgm:cxn modelId="{7C9BB9DD-F9AF-9244-B8CE-908EA259981B}" type="presOf" srcId="{9F33F9E1-A089-411B-B849-109FE44D2B2D}" destId="{26444C2E-1B50-794F-AFC0-F4CEF59839E7}" srcOrd="0" destOrd="0" presId="urn:microsoft.com/office/officeart/2005/8/layout/vList2"/>
    <dgm:cxn modelId="{AB2F8DA2-9C24-9649-8E24-15107460E2A9}" type="presParOf" srcId="{26444C2E-1B50-794F-AFC0-F4CEF59839E7}" destId="{5FE0C82F-DEE5-8140-A621-8068EDF8217A}" srcOrd="0" destOrd="0" presId="urn:microsoft.com/office/officeart/2005/8/layout/vList2"/>
    <dgm:cxn modelId="{77B2FAB8-BC06-1F4E-B0B8-6F7D55062B68}" type="presParOf" srcId="{26444C2E-1B50-794F-AFC0-F4CEF59839E7}" destId="{9E71B5CE-A08B-0B48-B1A4-416EF52DA788}" srcOrd="1" destOrd="0" presId="urn:microsoft.com/office/officeart/2005/8/layout/vList2"/>
    <dgm:cxn modelId="{639AD621-FC56-5F47-AE04-B9CA5E9FDF3A}" type="presParOf" srcId="{26444C2E-1B50-794F-AFC0-F4CEF59839E7}" destId="{73D11F36-D43E-574D-9654-BA48F985F47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28E871-76EE-4668-B769-319851F8372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F0F90EA-560E-4833-A77A-51FCECBBDD44}">
      <dgm:prSet/>
      <dgm:spPr/>
      <dgm:t>
        <a:bodyPr/>
        <a:lstStyle/>
        <a:p>
          <a:r>
            <a:rPr lang="en-US"/>
            <a:t>Vamos a ver un reality show que se llama “El amor es ciego”, como estadísticos bayesianos vamos es estimar la probabilidad de que uno de los participantes se enamore y se case.</a:t>
          </a:r>
        </a:p>
      </dgm:t>
    </dgm:pt>
    <dgm:pt modelId="{1FA3F478-9E9D-4628-AD02-D615552BD0BF}" type="parTrans" cxnId="{4C486E8B-0645-4A16-97C8-EB6E7E567E0A}">
      <dgm:prSet/>
      <dgm:spPr/>
      <dgm:t>
        <a:bodyPr/>
        <a:lstStyle/>
        <a:p>
          <a:endParaRPr lang="en-US"/>
        </a:p>
      </dgm:t>
    </dgm:pt>
    <dgm:pt modelId="{4421169E-7F80-42A8-B397-AF86142BD3EE}" type="sibTrans" cxnId="{4C486E8B-0645-4A16-97C8-EB6E7E567E0A}">
      <dgm:prSet/>
      <dgm:spPr/>
      <dgm:t>
        <a:bodyPr/>
        <a:lstStyle/>
        <a:p>
          <a:endParaRPr lang="en-US"/>
        </a:p>
      </dgm:t>
    </dgm:pt>
    <dgm:pt modelId="{18F6F8A1-40B2-423B-9243-0825986229D3}">
      <dgm:prSet/>
      <dgm:spPr/>
      <dgm:t>
        <a:bodyPr/>
        <a:lstStyle/>
        <a:p>
          <a:r>
            <a:rPr lang="en-US"/>
            <a:t>El experimento: Silvia tiene una serie de citas a ciegas hasta que encuentre al amor de su vida y se case. Silvia debe tener un índice alto de carisma  para casarse</a:t>
          </a:r>
        </a:p>
      </dgm:t>
    </dgm:pt>
    <dgm:pt modelId="{EB8AF9D7-430D-406B-A86B-0EE134E59242}" type="parTrans" cxnId="{0FD6A2FA-4C41-4408-96A8-F9D94967386C}">
      <dgm:prSet/>
      <dgm:spPr/>
      <dgm:t>
        <a:bodyPr/>
        <a:lstStyle/>
        <a:p>
          <a:endParaRPr lang="en-US"/>
        </a:p>
      </dgm:t>
    </dgm:pt>
    <dgm:pt modelId="{52BE066C-9226-4924-B90D-6FE983138EB3}" type="sibTrans" cxnId="{0FD6A2FA-4C41-4408-96A8-F9D94967386C}">
      <dgm:prSet/>
      <dgm:spPr/>
      <dgm:t>
        <a:bodyPr/>
        <a:lstStyle/>
        <a:p>
          <a:endParaRPr lang="en-US"/>
        </a:p>
      </dgm:t>
    </dgm:pt>
    <dgm:pt modelId="{EE3B32DB-B0FD-4577-83BA-0CC6AB4CFFF7}">
      <dgm:prSet/>
      <dgm:spPr/>
      <dgm:t>
        <a:bodyPr/>
        <a:lstStyle/>
        <a:p>
          <a:r>
            <a:rPr lang="en-US"/>
            <a:t>Como estadísticos, vamos a estimar la probabilidad de que Silvia tenga gran carisma. </a:t>
          </a:r>
        </a:p>
      </dgm:t>
    </dgm:pt>
    <dgm:pt modelId="{56684DA7-DD14-4703-97DC-C5830106540F}" type="parTrans" cxnId="{25A26F1A-4B77-4BA6-BB37-31ED38418D32}">
      <dgm:prSet/>
      <dgm:spPr/>
      <dgm:t>
        <a:bodyPr/>
        <a:lstStyle/>
        <a:p>
          <a:endParaRPr lang="en-US"/>
        </a:p>
      </dgm:t>
    </dgm:pt>
    <dgm:pt modelId="{093802DB-190B-4627-90CE-A3343E9768CF}" type="sibTrans" cxnId="{25A26F1A-4B77-4BA6-BB37-31ED38418D32}">
      <dgm:prSet/>
      <dgm:spPr/>
      <dgm:t>
        <a:bodyPr/>
        <a:lstStyle/>
        <a:p>
          <a:endParaRPr lang="en-US"/>
        </a:p>
      </dgm:t>
    </dgm:pt>
    <dgm:pt modelId="{42C0FF3E-21A7-A740-B22B-1120AB913B51}" type="pres">
      <dgm:prSet presAssocID="{C828E871-76EE-4668-B769-319851F8372B}" presName="linear" presStyleCnt="0">
        <dgm:presLayoutVars>
          <dgm:animLvl val="lvl"/>
          <dgm:resizeHandles val="exact"/>
        </dgm:presLayoutVars>
      </dgm:prSet>
      <dgm:spPr/>
    </dgm:pt>
    <dgm:pt modelId="{66B85F11-DC7D-0840-8E53-4C396F3F522F}" type="pres">
      <dgm:prSet presAssocID="{AF0F90EA-560E-4833-A77A-51FCECBBDD4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743C6FE-CF65-5D4E-A6E4-649BE29D16B1}" type="pres">
      <dgm:prSet presAssocID="{4421169E-7F80-42A8-B397-AF86142BD3EE}" presName="spacer" presStyleCnt="0"/>
      <dgm:spPr/>
    </dgm:pt>
    <dgm:pt modelId="{18D5734F-A2EA-5346-BA77-1A9EC4EB2B99}" type="pres">
      <dgm:prSet presAssocID="{18F6F8A1-40B2-423B-9243-0825986229D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DBC911E-EB6C-3548-832D-50A8A5C6FC63}" type="pres">
      <dgm:prSet presAssocID="{52BE066C-9226-4924-B90D-6FE983138EB3}" presName="spacer" presStyleCnt="0"/>
      <dgm:spPr/>
    </dgm:pt>
    <dgm:pt modelId="{A16836D3-AB78-0041-8439-B7F1ECB049A5}" type="pres">
      <dgm:prSet presAssocID="{EE3B32DB-B0FD-4577-83BA-0CC6AB4CFFF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5A26F1A-4B77-4BA6-BB37-31ED38418D32}" srcId="{C828E871-76EE-4668-B769-319851F8372B}" destId="{EE3B32DB-B0FD-4577-83BA-0CC6AB4CFFF7}" srcOrd="2" destOrd="0" parTransId="{56684DA7-DD14-4703-97DC-C5830106540F}" sibTransId="{093802DB-190B-4627-90CE-A3343E9768CF}"/>
    <dgm:cxn modelId="{DEA77C1E-A7BF-D241-B56D-5DC647BD32C7}" type="presOf" srcId="{18F6F8A1-40B2-423B-9243-0825986229D3}" destId="{18D5734F-A2EA-5346-BA77-1A9EC4EB2B99}" srcOrd="0" destOrd="0" presId="urn:microsoft.com/office/officeart/2005/8/layout/vList2"/>
    <dgm:cxn modelId="{837C0358-34ED-BB4D-9BD7-FDF316FE5860}" type="presOf" srcId="{EE3B32DB-B0FD-4577-83BA-0CC6AB4CFFF7}" destId="{A16836D3-AB78-0041-8439-B7F1ECB049A5}" srcOrd="0" destOrd="0" presId="urn:microsoft.com/office/officeart/2005/8/layout/vList2"/>
    <dgm:cxn modelId="{4C486E8B-0645-4A16-97C8-EB6E7E567E0A}" srcId="{C828E871-76EE-4668-B769-319851F8372B}" destId="{AF0F90EA-560E-4833-A77A-51FCECBBDD44}" srcOrd="0" destOrd="0" parTransId="{1FA3F478-9E9D-4628-AD02-D615552BD0BF}" sibTransId="{4421169E-7F80-42A8-B397-AF86142BD3EE}"/>
    <dgm:cxn modelId="{D1C704D2-9DEA-0042-98C5-3837585B4BED}" type="presOf" srcId="{AF0F90EA-560E-4833-A77A-51FCECBBDD44}" destId="{66B85F11-DC7D-0840-8E53-4C396F3F522F}" srcOrd="0" destOrd="0" presId="urn:microsoft.com/office/officeart/2005/8/layout/vList2"/>
    <dgm:cxn modelId="{78B43EE0-11DC-E849-9E87-FD062AA17EED}" type="presOf" srcId="{C828E871-76EE-4668-B769-319851F8372B}" destId="{42C0FF3E-21A7-A740-B22B-1120AB913B51}" srcOrd="0" destOrd="0" presId="urn:microsoft.com/office/officeart/2005/8/layout/vList2"/>
    <dgm:cxn modelId="{0FD6A2FA-4C41-4408-96A8-F9D94967386C}" srcId="{C828E871-76EE-4668-B769-319851F8372B}" destId="{18F6F8A1-40B2-423B-9243-0825986229D3}" srcOrd="1" destOrd="0" parTransId="{EB8AF9D7-430D-406B-A86B-0EE134E59242}" sibTransId="{52BE066C-9226-4924-B90D-6FE983138EB3}"/>
    <dgm:cxn modelId="{52E1DE18-7DBE-2547-A0B4-55A9AEB7DD42}" type="presParOf" srcId="{42C0FF3E-21A7-A740-B22B-1120AB913B51}" destId="{66B85F11-DC7D-0840-8E53-4C396F3F522F}" srcOrd="0" destOrd="0" presId="urn:microsoft.com/office/officeart/2005/8/layout/vList2"/>
    <dgm:cxn modelId="{2A3C25B7-235F-3C4B-B514-167B28E07DBE}" type="presParOf" srcId="{42C0FF3E-21A7-A740-B22B-1120AB913B51}" destId="{F743C6FE-CF65-5D4E-A6E4-649BE29D16B1}" srcOrd="1" destOrd="0" presId="urn:microsoft.com/office/officeart/2005/8/layout/vList2"/>
    <dgm:cxn modelId="{C08D3CD5-1736-FB43-8E44-6CE193537C7C}" type="presParOf" srcId="{42C0FF3E-21A7-A740-B22B-1120AB913B51}" destId="{18D5734F-A2EA-5346-BA77-1A9EC4EB2B99}" srcOrd="2" destOrd="0" presId="urn:microsoft.com/office/officeart/2005/8/layout/vList2"/>
    <dgm:cxn modelId="{C3828255-1C02-7343-B6CF-1A5547280F75}" type="presParOf" srcId="{42C0FF3E-21A7-A740-B22B-1120AB913B51}" destId="{1DBC911E-EB6C-3548-832D-50A8A5C6FC63}" srcOrd="3" destOrd="0" presId="urn:microsoft.com/office/officeart/2005/8/layout/vList2"/>
    <dgm:cxn modelId="{CBA6801C-B6A4-D748-9162-821EE910ECE1}" type="presParOf" srcId="{42C0FF3E-21A7-A740-B22B-1120AB913B51}" destId="{A16836D3-AB78-0041-8439-B7F1ECB049A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E0C82F-DEE5-8140-A621-8068EDF8217A}">
      <dsp:nvSpPr>
        <dsp:cNvPr id="0" name=""/>
        <dsp:cNvSpPr/>
      </dsp:nvSpPr>
      <dsp:spPr>
        <a:xfrm>
          <a:off x="0" y="126539"/>
          <a:ext cx="6949440" cy="27120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En Biología, escogemos hacer inferencia bayesiana porque es una herramienta computacional poderosa </a:t>
          </a:r>
        </a:p>
      </dsp:txBody>
      <dsp:txXfrm>
        <a:off x="132392" y="258931"/>
        <a:ext cx="6684656" cy="2447275"/>
      </dsp:txXfrm>
    </dsp:sp>
    <dsp:sp modelId="{73D11F36-D43E-574D-9654-BA48F985F476}">
      <dsp:nvSpPr>
        <dsp:cNvPr id="0" name=""/>
        <dsp:cNvSpPr/>
      </dsp:nvSpPr>
      <dsp:spPr>
        <a:xfrm>
          <a:off x="0" y="2948039"/>
          <a:ext cx="6949440" cy="2712059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Utilizar e implementar MCMCs es un arte, toma tiempo y esfuerzo, pero vale la pena por la calidad de la inferencia </a:t>
          </a:r>
        </a:p>
      </dsp:txBody>
      <dsp:txXfrm>
        <a:off x="132392" y="3080431"/>
        <a:ext cx="6684656" cy="24472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B85F11-DC7D-0840-8E53-4C396F3F522F}">
      <dsp:nvSpPr>
        <dsp:cNvPr id="0" name=""/>
        <dsp:cNvSpPr/>
      </dsp:nvSpPr>
      <dsp:spPr>
        <a:xfrm>
          <a:off x="0" y="35008"/>
          <a:ext cx="6949440" cy="18556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Vamos a ver un reality show que se llama “El amor es ciego”, como estadísticos bayesianos vamos es estimar la probabilidad de que uno de los participantes se enamore y se case.</a:t>
          </a:r>
        </a:p>
      </dsp:txBody>
      <dsp:txXfrm>
        <a:off x="90584" y="125592"/>
        <a:ext cx="6768272" cy="1674452"/>
      </dsp:txXfrm>
    </dsp:sp>
    <dsp:sp modelId="{18D5734F-A2EA-5346-BA77-1A9EC4EB2B99}">
      <dsp:nvSpPr>
        <dsp:cNvPr id="0" name=""/>
        <dsp:cNvSpPr/>
      </dsp:nvSpPr>
      <dsp:spPr>
        <a:xfrm>
          <a:off x="0" y="1965508"/>
          <a:ext cx="6949440" cy="185562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El experimento: Silvia tiene una serie de citas a ciegas hasta que encuentre al amor de su vida y se case. Silvia debe tener un índice alto de carisma  para casarse</a:t>
          </a:r>
        </a:p>
      </dsp:txBody>
      <dsp:txXfrm>
        <a:off x="90584" y="2056092"/>
        <a:ext cx="6768272" cy="1674452"/>
      </dsp:txXfrm>
    </dsp:sp>
    <dsp:sp modelId="{A16836D3-AB78-0041-8439-B7F1ECB049A5}">
      <dsp:nvSpPr>
        <dsp:cNvPr id="0" name=""/>
        <dsp:cNvSpPr/>
      </dsp:nvSpPr>
      <dsp:spPr>
        <a:xfrm>
          <a:off x="0" y="3896008"/>
          <a:ext cx="6949440" cy="185562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Como estadísticos, vamos a estimar la probabilidad de que Silvia tenga gran carisma. </a:t>
          </a:r>
        </a:p>
      </dsp:txBody>
      <dsp:txXfrm>
        <a:off x="90584" y="3986592"/>
        <a:ext cx="6768272" cy="16744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C5EADC-C7C5-C141-AA0C-ACD7C80A9395}" type="datetimeFigureOut">
              <a:rPr lang="en-US" smtClean="0"/>
              <a:t>6/19/25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941E8A-0A2B-CE4F-B138-50A0A0BE0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583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41E8A-0A2B-CE4F-B138-50A0A0BE04E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13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33F97-DBA1-F4D6-790A-4D496C9034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13C6AA-98D6-15D1-B6C4-E2DBBB151F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2E018-3CE6-FF11-DA0B-705C55C41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D00E8-F244-4948-913B-E752F1A8C318}" type="datetimeFigureOut">
              <a:rPr lang="en-US" smtClean="0"/>
              <a:t>6/14/25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8077A-54CD-9FFD-40EE-815BB76DA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67A1B-8B13-6377-42D0-555147215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FC40-580C-A94F-9C1D-878A706AF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42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ED720-6FBD-4DDE-CDDD-985D7D2D3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20A56-9EF9-F751-47A5-FAAE9B20A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FC039-2268-F8E0-24ED-A0CA26C92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D00E8-F244-4948-913B-E752F1A8C318}" type="datetimeFigureOut">
              <a:rPr lang="en-US" smtClean="0"/>
              <a:t>6/14/25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44A15-58F0-7354-C815-A4B6E6D2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D77F3-9A6B-8872-E2F8-F6A434522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FC40-580C-A94F-9C1D-878A706AF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676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7CAC0-F475-452D-4AC4-9AD31FBE5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33302-8E33-9612-8D8D-8135D8D5C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EBD9C-C481-D740-5505-BFDC7335F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D00E8-F244-4948-913B-E752F1A8C318}" type="datetimeFigureOut">
              <a:rPr lang="en-US" smtClean="0"/>
              <a:t>6/14/25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C44B-33EF-C318-C200-30E322E37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FB1D9-3E49-0F6F-358D-3BBDCD305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FC40-580C-A94F-9C1D-878A706AF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711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8751C-B701-6582-5942-893D617D9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A3491-572B-C205-667C-2FB80307AE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E799CB-8A2C-5325-1945-FB6AC2699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6CE75A-2BA8-D51D-580E-03CAF9574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D00E8-F244-4948-913B-E752F1A8C318}" type="datetimeFigureOut">
              <a:rPr lang="en-US" smtClean="0"/>
              <a:t>6/14/25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A546D-BCE2-7DB4-186A-50BCCE652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6BA55-B869-201C-F34B-7B5DD262A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FC40-580C-A94F-9C1D-878A706AF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15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5470C-678C-A783-B215-7CA374C48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13AA6A-D96F-688A-640B-FD0FA8761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0111B9-FBC1-0378-6C64-6614D2229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58E574-105B-F39B-5E2C-79B7183C31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A30F7A-97B7-667E-4E2B-F5D6352C38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F8CAD8-888E-9D87-6633-9C3272C51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D00E8-F244-4948-913B-E752F1A8C318}" type="datetimeFigureOut">
              <a:rPr lang="en-US" smtClean="0"/>
              <a:t>6/14/25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D526B5-6A3F-3F72-24C2-F2D430828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7C512D-307C-19D6-085C-DA013CF19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FC40-580C-A94F-9C1D-878A706AF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713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660A4-9942-BA76-35D2-F1AC8202B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1A412B-25EE-FED2-FE8D-85F35F522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D00E8-F244-4948-913B-E752F1A8C318}" type="datetimeFigureOut">
              <a:rPr lang="en-US" smtClean="0"/>
              <a:t>6/14/25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028F42-7459-A810-FD86-841EADAC2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301407-7EE4-8256-DEE4-D32450AF5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FC40-580C-A94F-9C1D-878A706AF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049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0FCAC1-CA58-D0DD-4F9E-8407E3882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D00E8-F244-4948-913B-E752F1A8C318}" type="datetimeFigureOut">
              <a:rPr lang="en-US" smtClean="0"/>
              <a:t>6/14/25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3623D-8855-4640-ECDE-157A81498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C4CF2-A961-93A6-C857-87A14D403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FC40-580C-A94F-9C1D-878A706AF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63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42CEF-BD93-82D6-4578-D11BA0A74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4EE64-229E-C2E9-9F55-3BB850181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6ABAB6-BC86-F870-2651-191D46F31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FA7AA2-8A8A-0E54-5B78-E2432B8FB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D00E8-F244-4948-913B-E752F1A8C318}" type="datetimeFigureOut">
              <a:rPr lang="en-US" smtClean="0"/>
              <a:t>6/14/25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93667-32D5-0D62-AE07-EF7E5127A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FA51D-2530-9648-1EBE-F32578731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FC40-580C-A94F-9C1D-878A706AF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348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D94AF-EDB7-909C-B835-C081A192E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0A2C81-C26E-F38B-F1A2-E69D9C6EAC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EAFEB-80BD-30B8-F144-F2D1E4BB6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DC4E3-655E-86DB-4A6C-9B0133C46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D00E8-F244-4948-913B-E752F1A8C318}" type="datetimeFigureOut">
              <a:rPr lang="en-US" smtClean="0"/>
              <a:t>6/14/25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09CA0A-8832-27A8-C2D9-05BDB21D2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3CDA1-9373-4E8D-296D-691CB83BF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FC40-580C-A94F-9C1D-878A706AF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32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FB51C-8F35-FE2E-C998-EDC977707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E78C92-E840-449E-689B-70E31CD894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53EA4-BD7C-4777-B915-156BD8A2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D00E8-F244-4948-913B-E752F1A8C318}" type="datetimeFigureOut">
              <a:rPr lang="en-US" smtClean="0"/>
              <a:t>6/14/25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907E5-56F8-D6B1-6F18-8E881B752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0DAE7-B694-9DF2-6EEF-E73405B41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FC40-580C-A94F-9C1D-878A706AF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5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0F2C93-013F-DC3B-0B56-572CA5DE7B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7222F5-68E2-F9E1-A192-63D51F1846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2C058-B7DF-5F44-671D-6BB0B02BC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D00E8-F244-4948-913B-E752F1A8C318}" type="datetimeFigureOut">
              <a:rPr lang="en-US" smtClean="0"/>
              <a:t>6/14/25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601AF-C7D5-6F77-3A57-C4992C224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94F5D-24A0-941E-06CE-F876E4884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FC40-580C-A94F-9C1D-878A706AF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380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D2D77E-AEBB-C828-BC21-8ACC93234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B46B64-9776-8028-DB88-4D00AA104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94AD1-79DB-EE1D-9F49-6AE8A90E1B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BD00E8-F244-4948-913B-E752F1A8C318}" type="datetimeFigureOut">
              <a:rPr lang="en-US" smtClean="0"/>
              <a:t>6/14/25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F5FE7-0C5F-1918-0362-BA23403905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4BE8B-B398-9E46-D354-9A1FBD8DD5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4FFC40-580C-A94F-9C1D-878A706AF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176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71E67-0425-2A3D-04FD-B11E3BF2D6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Introducción</a:t>
            </a:r>
            <a:r>
              <a:rPr lang="en-US" dirty="0"/>
              <a:t> a </a:t>
            </a:r>
            <a:r>
              <a:rPr lang="en-US" dirty="0" err="1"/>
              <a:t>Estadística</a:t>
            </a:r>
            <a:r>
              <a:rPr lang="en-US" dirty="0"/>
              <a:t> </a:t>
            </a:r>
            <a:r>
              <a:rPr lang="en-US" dirty="0" err="1"/>
              <a:t>Bayesiana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FFEBCA-2FA5-40C9-90F5-774734876B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Taller de </a:t>
            </a:r>
            <a:r>
              <a:rPr lang="en-US" dirty="0" err="1"/>
              <a:t>introducción</a:t>
            </a:r>
            <a:r>
              <a:rPr lang="en-US" dirty="0"/>
              <a:t> a la </a:t>
            </a:r>
            <a:r>
              <a:rPr lang="en-US" dirty="0" err="1"/>
              <a:t>estadística</a:t>
            </a:r>
            <a:r>
              <a:rPr lang="en-US" dirty="0"/>
              <a:t> de </a:t>
            </a:r>
            <a:r>
              <a:rPr lang="en-US" dirty="0" err="1"/>
              <a:t>verosimilitud</a:t>
            </a:r>
            <a:r>
              <a:rPr lang="en-US" dirty="0"/>
              <a:t> y </a:t>
            </a:r>
            <a:r>
              <a:rPr lang="en-US" dirty="0" err="1"/>
              <a:t>Bayesiana</a:t>
            </a:r>
            <a:endParaRPr lang="en-US" dirty="0"/>
          </a:p>
          <a:p>
            <a:r>
              <a:rPr lang="en-US" dirty="0"/>
              <a:t>Evolution 2025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9B5E8C-2C2B-01DC-C365-B62AA9E132EC}"/>
              </a:ext>
            </a:extLst>
          </p:cNvPr>
          <p:cNvSpPr txBox="1"/>
          <p:nvPr/>
        </p:nvSpPr>
        <p:spPr>
          <a:xfrm>
            <a:off x="3838341" y="6211669"/>
            <a:ext cx="48388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Rosana Zenil-Ferguson and Laura Lagomarsino</a:t>
            </a:r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5FAF0E9-CCFD-CB75-3F5F-14CB2E97E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226" y="4925584"/>
            <a:ext cx="1443620" cy="1184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ACD1ADF-3072-BDC5-12C3-CE145F2D0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314" y="5100890"/>
            <a:ext cx="2597426" cy="857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go: U.S. NSF horizontal | NOIRLab">
            <a:extLst>
              <a:ext uri="{FF2B5EF4-FFF2-40B4-BE49-F238E27FC236}">
                <a16:creationId xmlns:a16="http://schemas.microsoft.com/office/drawing/2014/main" id="{428CA069-0409-7F26-39F2-D5F559203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2522" y="-226046"/>
            <a:ext cx="4338690" cy="1940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2231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D128C-303D-9255-75A7-B6EBECF23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kern="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¿</a:t>
            </a:r>
            <a:r>
              <a:rPr lang="en-US" sz="3600" b="1" kern="0" dirty="0" err="1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Qué</a:t>
            </a:r>
            <a:r>
              <a:rPr lang="en-US" sz="3600" b="1" kern="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es la </a:t>
            </a:r>
            <a:r>
              <a:rPr lang="en-US" sz="3600" b="1" kern="0" dirty="0" err="1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estadística</a:t>
            </a:r>
            <a:r>
              <a:rPr lang="en-US" sz="3600" b="1" kern="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kern="0" dirty="0" err="1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Bayesiana</a:t>
            </a:r>
            <a:r>
              <a:rPr lang="en-US" sz="3600" b="1" kern="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A9194-8E51-2450-9209-6E4577222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Rama  del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estudio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la </a:t>
            </a:r>
            <a:r>
              <a:rPr lang="en-US" sz="20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stadística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que se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enfoca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la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inferencia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y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pronóstico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la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probabilidades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eventos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inciertos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Objetivo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Proporcionar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una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medida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la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incertidumbre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y no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solamente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estimador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puntual</a:t>
            </a:r>
            <a:endParaRPr lang="en-US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0" indent="0">
              <a:buNone/>
            </a:pPr>
            <a:r>
              <a:rPr lang="en-US" sz="1800" dirty="0">
                <a:latin typeface="Aptos" panose="020B0004020202020204" pitchFamily="34" charset="0"/>
                <a:cs typeface="Times New Roman" panose="02020603050405020304" pitchFamily="18" charset="0"/>
              </a:rPr>
              <a:t>Dos </a:t>
            </a:r>
            <a:r>
              <a:rPr lang="en-US" sz="1800" dirty="0" err="1">
                <a:latin typeface="Aptos" panose="020B0004020202020204" pitchFamily="34" charset="0"/>
                <a:cs typeface="Times New Roman" panose="02020603050405020304" pitchFamily="18" charset="0"/>
              </a:rPr>
              <a:t>diferencias</a:t>
            </a:r>
            <a:r>
              <a:rPr lang="en-US" sz="18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Aptos" panose="020B0004020202020204" pitchFamily="34" charset="0"/>
                <a:cs typeface="Times New Roman" panose="02020603050405020304" pitchFamily="18" charset="0"/>
              </a:rPr>
              <a:t>importantes</a:t>
            </a:r>
            <a:r>
              <a:rPr lang="en-US" sz="1800" dirty="0">
                <a:latin typeface="Aptos" panose="020B0004020202020204" pitchFamily="34" charset="0"/>
                <a:cs typeface="Times New Roman" panose="02020603050405020304" pitchFamily="18" charset="0"/>
              </a:rPr>
              <a:t> de la </a:t>
            </a:r>
            <a:r>
              <a:rPr lang="en-US" sz="1800" dirty="0" err="1">
                <a:latin typeface="Aptos" panose="020B0004020202020204" pitchFamily="34" charset="0"/>
                <a:cs typeface="Times New Roman" panose="02020603050405020304" pitchFamily="18" charset="0"/>
              </a:rPr>
              <a:t>estadísticas</a:t>
            </a:r>
            <a:r>
              <a:rPr lang="en-US" sz="18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Aptos" panose="020B0004020202020204" pitchFamily="34" charset="0"/>
                <a:cs typeface="Times New Roman" panose="02020603050405020304" pitchFamily="18" charset="0"/>
              </a:rPr>
              <a:t>bayesiana</a:t>
            </a:r>
            <a:r>
              <a:rPr lang="en-US" sz="1800" dirty="0">
                <a:latin typeface="Aptos" panose="020B0004020202020204" pitchFamily="34" charset="0"/>
                <a:cs typeface="Times New Roman" panose="02020603050405020304" pitchFamily="18" charset="0"/>
              </a:rPr>
              <a:t> con </a:t>
            </a:r>
            <a:r>
              <a:rPr lang="en-US" sz="1800" dirty="0" err="1">
                <a:latin typeface="Aptos" panose="020B0004020202020204" pitchFamily="34" charset="0"/>
                <a:cs typeface="Times New Roman" panose="02020603050405020304" pitchFamily="18" charset="0"/>
              </a:rPr>
              <a:t>estadística</a:t>
            </a:r>
            <a:r>
              <a:rPr lang="en-US" sz="18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Aptos" panose="020B0004020202020204" pitchFamily="34" charset="0"/>
                <a:cs typeface="Times New Roman" panose="02020603050405020304" pitchFamily="18" charset="0"/>
              </a:rPr>
              <a:t>tradicional</a:t>
            </a:r>
            <a:endParaRPr lang="en-US" sz="18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Aptos" panose="020B0004020202020204" pitchFamily="34" charset="0"/>
                <a:cs typeface="Times New Roman" panose="02020603050405020304" pitchFamily="18" charset="0"/>
              </a:rPr>
              <a:t>1. </a:t>
            </a:r>
          </a:p>
          <a:p>
            <a:pPr marL="0" indent="0">
              <a:buNone/>
            </a:pPr>
            <a:endParaRPr lang="en-US" sz="18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Aptos" panose="020B0004020202020204" pitchFamily="34" charset="0"/>
                <a:cs typeface="Times New Roman" panose="02020603050405020304" pitchFamily="18" charset="0"/>
              </a:rPr>
              <a:t>2. </a:t>
            </a:r>
          </a:p>
        </p:txBody>
      </p:sp>
    </p:spTree>
    <p:extLst>
      <p:ext uri="{BB962C8B-B14F-4D97-AF65-F5344CB8AC3E}">
        <p14:creationId xmlns:p14="http://schemas.microsoft.com/office/powerpoint/2010/main" val="245131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10884-1161-D488-7E7B-21864E8A5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 b="1"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¿Cuándo hacemos estadística bayesiana </a:t>
            </a:r>
            <a:br>
              <a:rPr lang="en-US" sz="4000" b="1"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 cuando no?</a:t>
            </a:r>
            <a:endParaRPr lang="en-US" sz="4000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B630AAF-C856-42BC-DF05-9EB1CF8C3F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3332223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4004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0708C-E6CA-CB63-A832-76F52584E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err="1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Conceptos</a:t>
            </a:r>
            <a:r>
              <a:rPr lang="en-US" sz="36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bayesianos</a:t>
            </a:r>
            <a:r>
              <a:rPr lang="en-US" sz="36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importantes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C49762-7091-043A-DFC0-737B9EB2CA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Dados dos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eventos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la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probabilidad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condicional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de.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dado</a:t>
                </a:r>
                <a:r>
                  <a:rPr lang="en-US" sz="20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endParaRPr lang="en-US" sz="20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se define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como</a:t>
                </a:r>
                <a:r>
                  <a:rPr lang="en-US" sz="20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sz="20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d>
                    <m:r>
                      <a:rPr lang="en-US" sz="20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𝐴𝐵</m:t>
                            </m:r>
                          </m:e>
                        </m:d>
                      </m:num>
                      <m:den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e>
                        </m:d>
                      </m:den>
                    </m:f>
                  </m:oMath>
                </a14:m>
                <a:endParaRPr lang="en-US" sz="20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en-US" sz="20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y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aplicando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dos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veces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el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teorema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de Bayes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obtenemos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que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en-US" sz="20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sz="20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0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0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C49762-7091-043A-DFC0-737B9EB2CA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6493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A9ECF5-584B-3ECC-ADEE-FF07E8DA0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 b="1"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Ejemplo: </a:t>
            </a:r>
            <a:br>
              <a:rPr lang="en-US" sz="4000" b="1"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experimento de un reality show “El amor es ciego”</a:t>
            </a:r>
            <a:endParaRPr lang="en-US" sz="40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E312A9-81A8-DEB8-6879-3391F8F99F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6899122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0972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19632-DD22-7EF8-A0D7-2F3CB4B0E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Definición</a:t>
            </a:r>
            <a:r>
              <a:rPr lang="en-US" dirty="0"/>
              <a:t> de </a:t>
            </a:r>
            <a:r>
              <a:rPr lang="en-US" dirty="0" err="1"/>
              <a:t>Eventos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4CB9F-3525-ED87-5EFB-8FB810820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900"/>
              </a:spcBef>
              <a:spcAft>
                <a:spcPts val="90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21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13E87-B7B8-133F-E3FF-9C90FAD2E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err="1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Definición</a:t>
            </a:r>
            <a:r>
              <a:rPr lang="en-US" sz="3600" b="1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3600" b="1" dirty="0" err="1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probabilidad</a:t>
            </a:r>
            <a:r>
              <a:rPr lang="en-US" sz="3600" b="1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priori</a:t>
            </a:r>
            <a:endParaRPr lang="en-US" sz="36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CEE19-B935-E6F4-9676-BA37F369A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Como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expectadores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y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estadísticos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nosotros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podemos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definir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entrada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algunas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probabilidades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Por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ejemplo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primer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capítulo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se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hace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la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introducción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Silvia y de entrada no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sabemos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mucho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Silvia. Dos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decisiones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podemos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tomar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endParaRPr lang="en-US" sz="20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Aptos" panose="020B0004020202020204" pitchFamily="34" charset="0"/>
                <a:cs typeface="Times New Roman" panose="02020603050405020304" pitchFamily="18" charset="0"/>
              </a:rPr>
              <a:t>1. </a:t>
            </a:r>
          </a:p>
          <a:p>
            <a:pPr marL="0" indent="0">
              <a:buNone/>
            </a:pPr>
            <a:endParaRPr lang="en-US" sz="2000" dirty="0">
              <a:effectLst/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effectLst/>
                <a:latin typeface="Aptos" panose="020B0004020202020204" pitchFamily="34" charset="0"/>
                <a:cs typeface="Times New Roman" panose="02020603050405020304" pitchFamily="18" charset="0"/>
              </a:rPr>
              <a:t>2. </a:t>
            </a:r>
            <a:r>
              <a:rPr lang="en-US" sz="2000" dirty="0">
                <a:effectLst/>
              </a:rPr>
              <a:t>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</a:t>
            </a:r>
            <a:r>
              <a:rPr lang="en-US" sz="20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probabilidad</a:t>
            </a:r>
            <a:r>
              <a:rPr lang="en-US" sz="2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priori es un paso </a:t>
            </a:r>
            <a:r>
              <a:rPr lang="en-US" sz="20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necesario</a:t>
            </a:r>
            <a:r>
              <a:rPr lang="en-US" sz="2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la </a:t>
            </a:r>
            <a:r>
              <a:rPr lang="en-US" sz="20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estadística</a:t>
            </a:r>
            <a:r>
              <a:rPr lang="en-US" sz="2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bayesiana</a:t>
            </a:r>
            <a:r>
              <a:rPr lang="en-US" sz="2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refleja</a:t>
            </a:r>
            <a:r>
              <a:rPr lang="en-US" sz="2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nuestras</a:t>
            </a:r>
            <a:r>
              <a:rPr lang="en-US" sz="2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creencias</a:t>
            </a:r>
            <a:r>
              <a:rPr lang="en-US" sz="2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y es </a:t>
            </a:r>
            <a:r>
              <a:rPr lang="en-US" sz="20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subjetiva</a:t>
            </a:r>
            <a:r>
              <a:rPr lang="en-US" sz="2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puede</a:t>
            </a:r>
            <a:r>
              <a:rPr lang="en-US" sz="2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ser </a:t>
            </a:r>
            <a:r>
              <a:rPr lang="en-US" sz="20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informativa</a:t>
            </a:r>
            <a:r>
              <a:rPr lang="en-US" sz="2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 no </a:t>
            </a:r>
            <a:r>
              <a:rPr lang="en-US" sz="20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informativa</a:t>
            </a:r>
            <a:r>
              <a:rPr lang="en-US" sz="2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88470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FBE09C1-A60B-7E29-131C-6DA1DCC093A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600" b="1" dirty="0">
                    <a:solidFill>
                      <a:srgbClr val="0F4761"/>
                    </a:solidFill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El </a:t>
                </a:r>
                <a:r>
                  <a:rPr lang="en-US" sz="3600" b="1" dirty="0" err="1">
                    <a:solidFill>
                      <a:srgbClr val="0F4761"/>
                    </a:solidFill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objetivo</a:t>
                </a:r>
                <a:r>
                  <a:rPr lang="en-US" sz="3600" b="1" dirty="0">
                    <a:solidFill>
                      <a:srgbClr val="0F4761"/>
                    </a:solidFill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final: </a:t>
                </a:r>
                <a14:m>
                  <m:oMath xmlns:m="http://schemas.openxmlformats.org/officeDocument/2006/math">
                    <m:r>
                      <a:rPr lang="en-US" sz="3600" b="1" i="1">
                        <a:solidFill>
                          <a:srgbClr val="0F476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3600" b="1" i="1">
                            <a:solidFill>
                              <a:srgbClr val="0F476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3600" b="1" i="1">
                            <a:solidFill>
                              <a:srgbClr val="0F476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sz="3600" b="1">
                            <a:solidFill>
                              <a:srgbClr val="0F476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sz="3600" b="1" i="1">
                            <a:solidFill>
                              <a:srgbClr val="0F476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FBE09C1-A60B-7E29-131C-6DA1DCC093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8A3FD9-4CC2-CB39-9CC9-19497504EC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Silvia ¿</a:t>
                </a:r>
                <a:r>
                  <a:rPr lang="en-US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acabará</a:t>
                </a: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enamorandose</a:t>
                </a: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?, </a:t>
                </a:r>
                <a:r>
                  <a:rPr lang="en-US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en</a:t>
                </a: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términos</a:t>
                </a: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de </a:t>
                </a:r>
                <a:r>
                  <a:rPr lang="en-US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probabilidad</a:t>
                </a: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nos</a:t>
                </a: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interesa</a:t>
                </a: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lo que </a:t>
                </a:r>
                <a:r>
                  <a:rPr lang="en-US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llamamos</a:t>
                </a: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la </a:t>
                </a:r>
                <a:r>
                  <a:rPr lang="en-US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probabilidad</a:t>
                </a: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a posteriori, es </a:t>
                </a:r>
                <a:r>
                  <a:rPr lang="en-US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decir</a:t>
                </a:r>
                <a:endParaRPr lang="en-US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endParaRPr lang="en-US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 algn="ctr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= </a:t>
                </a:r>
                <a:r>
                  <a:rPr lang="en-US" dirty="0"/>
                  <a:t>la </a:t>
                </a:r>
                <a:r>
                  <a:rPr lang="en-US" dirty="0" err="1"/>
                  <a:t>probabilidad</a:t>
                </a:r>
                <a:r>
                  <a:rPr lang="en-US" dirty="0"/>
                  <a:t> del </a:t>
                </a:r>
                <a:r>
                  <a:rPr lang="en-US" dirty="0" err="1"/>
                  <a:t>carisma</a:t>
                </a:r>
                <a:r>
                  <a:rPr lang="en-US" dirty="0"/>
                  <a:t> de Silvia dadas las </a:t>
                </a:r>
                <a:r>
                  <a:rPr lang="en-US" dirty="0" err="1"/>
                  <a:t>citas</a:t>
                </a:r>
                <a:r>
                  <a:rPr lang="en-US" dirty="0"/>
                  <a:t> </a:t>
                </a:r>
                <a:r>
                  <a:rPr lang="en-US" dirty="0" err="1"/>
                  <a:t>exitosas</a:t>
                </a:r>
                <a:r>
                  <a:rPr lang="en-US" dirty="0"/>
                  <a:t> </a:t>
                </a:r>
                <a:r>
                  <a:rPr lang="en-US" dirty="0" err="1"/>
                  <a:t>durante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reality show.</a:t>
                </a:r>
                <a:r>
                  <a:rPr lang="en-US" dirty="0">
                    <a:effectLst/>
                  </a:rPr>
                  <a:t> </a:t>
                </a:r>
                <a:endParaRPr lang="en-US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8A3FD9-4CC2-CB39-9CC9-19497504EC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326" r="-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1774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AC6D359-1E25-DE66-A1BA-639D6B4624B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b="1" i="1" smtClean="0">
                        <a:solidFill>
                          <a:srgbClr val="0F476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3600" b="1" i="1">
                            <a:solidFill>
                              <a:srgbClr val="0F476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3600" b="1" i="1">
                            <a:solidFill>
                              <a:srgbClr val="0F476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sz="3600" b="1">
                            <a:solidFill>
                              <a:srgbClr val="0F476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sz="3600" b="1" i="1">
                            <a:solidFill>
                              <a:srgbClr val="0F476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sz="3600" b="1" dirty="0">
                    <a:solidFill>
                      <a:srgbClr val="0F4761"/>
                    </a:solidFill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es </a:t>
                </a:r>
                <a:r>
                  <a:rPr lang="en-US" sz="3600" b="1" dirty="0" err="1">
                    <a:solidFill>
                      <a:srgbClr val="0F4761"/>
                    </a:solidFill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difícil</a:t>
                </a:r>
                <a:r>
                  <a:rPr lang="en-US" sz="3600" b="1" dirty="0">
                    <a:solidFill>
                      <a:srgbClr val="0F4761"/>
                    </a:solidFill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3600" b="1" dirty="0" err="1">
                    <a:solidFill>
                      <a:srgbClr val="0F4761"/>
                    </a:solidFill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estimar</a:t>
                </a:r>
                <a:endParaRPr lang="en-US" sz="36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AC6D359-1E25-DE66-A1BA-639D6B4624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9EE245-5B05-051E-E7AD-1E65CB3F63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Lo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más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sencillo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es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pensar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el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probabilidad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siguiente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sz="2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sz="24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Dado que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conocemos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el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carisma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de Silvia, la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probabilidad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de la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cita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es.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en-US" sz="24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Esta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segunda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probabilidad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condicional</a:t>
                </a:r>
                <a:r>
                  <a:rPr lang="en-US" sz="24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sz="24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24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es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muchísimo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más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sencilla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de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entender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y de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pensar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Afortunadamente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el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teorema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de Bayes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liga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esta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probabilidad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más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sencilla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a la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más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difícil</a:t>
                </a:r>
                <a:endParaRPr lang="en-US" sz="24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sz="2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4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4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9EE245-5B05-051E-E7AD-1E65CB3F63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0959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FC194-3566-D635-0FF0-8284D64B3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indent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3600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</a:t>
            </a:r>
            <a:r>
              <a:rPr lang="en-US" sz="3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ariables </a:t>
            </a:r>
            <a:r>
              <a:rPr lang="en-US" sz="36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aleatorias</a:t>
            </a:r>
            <a:endParaRPr lang="en-US" sz="3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BA6220-D16E-F16B-D058-04314C2424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Las variables </a:t>
                </a:r>
                <a:r>
                  <a:rPr lang="en-US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aleatorias</a:t>
                </a: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son </a:t>
                </a:r>
                <a:r>
                  <a:rPr lang="en-US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una</a:t>
                </a: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función</a:t>
                </a:r>
                <a:r>
                  <a:rPr lang="en-US" b="1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matemática</a:t>
                </a: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que </a:t>
                </a:r>
                <a:r>
                  <a:rPr lang="en-US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nos</a:t>
                </a: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lleva</a:t>
                </a: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del </a:t>
                </a:r>
                <a:r>
                  <a:rPr lang="en-US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espacio</a:t>
                </a: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de </a:t>
                </a:r>
                <a:r>
                  <a:rPr lang="en-US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eventos</a:t>
                </a: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al </a:t>
                </a:r>
                <a:r>
                  <a:rPr lang="en-US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espacio</a:t>
                </a: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de </a:t>
                </a:r>
                <a:r>
                  <a:rPr lang="en-US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los</a:t>
                </a: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números</a:t>
                </a: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marR="0" indent="0" algn="ctr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 Silvia</a:t>
                </a:r>
                <a:r>
                  <a:rPr lang="en-US" sz="24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tiene</a:t>
                </a:r>
                <a:r>
                  <a:rPr lang="en-US" sz="24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carisma</a:t>
                </a:r>
                <a:r>
                  <a:rPr lang="en-US" sz="24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 </a:t>
                </a: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endParaRPr lang="en-US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BA6220-D16E-F16B-D058-04314C2424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44CD172-7768-C144-A5EB-8ED238708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512" y="4997036"/>
            <a:ext cx="7448976" cy="1495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441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68048-E281-020B-D267-70BF2511B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</a:t>
            </a:r>
            <a:r>
              <a:rPr lang="en-US" sz="4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ariables </a:t>
            </a:r>
            <a:r>
              <a:rPr lang="en-US" sz="44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aleatorias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ACCDB1-EBBA-7518-B66C-9283F00DBF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  <m:r>
                      <a:rPr lang="en-US" b="0" i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>
                  <a:latin typeface="Aptos" panose="020B0004020202020204" pitchFamily="34" charset="0"/>
                </a:endParaRPr>
              </a:p>
              <a:p>
                <a:pPr marL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b="0" i="1" baseline="300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  <m:r>
                      <a:rPr lang="en-US" b="0" i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</m:d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1−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endParaRPr lang="en-US" dirty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>
                  <a:spcBef>
                    <a:spcPts val="900"/>
                  </a:spcBef>
                  <a:spcAft>
                    <a:spcPts val="900"/>
                  </a:spcAft>
                </a:pPr>
                <a:endParaRPr lang="en-US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 algn="ctr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20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el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mundo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real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el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carisma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de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una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persona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fluctua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dependiendo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de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muchos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factores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Entonces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una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mejor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aproximación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para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medir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el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carisma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de Silvia es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asumir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que</a:t>
                </a: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endParaRPr lang="en-US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ACCDB1-EBBA-7518-B66C-9283F00DBF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7699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34F809-E7AE-E002-CD4A-DACD7366F348}"/>
              </a:ext>
            </a:extLst>
          </p:cNvPr>
          <p:cNvSpPr txBox="1"/>
          <p:nvPr/>
        </p:nvSpPr>
        <p:spPr>
          <a:xfrm>
            <a:off x="1113810" y="2960716"/>
            <a:ext cx="4036334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Elicitación de la distribución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 priori del carisma de Silvia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161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DFDD3D2-AE3B-09E0-EDE3-0E1EBF1BF7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7391" y="268525"/>
            <a:ext cx="7901187" cy="63209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953A80-FD32-4135-F56B-674882DE9B9D}"/>
              </a:ext>
            </a:extLst>
          </p:cNvPr>
          <p:cNvSpPr txBox="1"/>
          <p:nvPr/>
        </p:nvSpPr>
        <p:spPr>
          <a:xfrm>
            <a:off x="8577942" y="2343834"/>
            <a:ext cx="319666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Los </a:t>
            </a:r>
            <a:r>
              <a:rPr lang="en-US" sz="2000" b="1" dirty="0" err="1"/>
              <a:t>parámetros</a:t>
            </a:r>
            <a:r>
              <a:rPr lang="en-US" sz="2000" b="1" dirty="0"/>
              <a:t> son </a:t>
            </a:r>
            <a:r>
              <a:rPr lang="en-US" sz="2000" b="1" dirty="0" err="1"/>
              <a:t>desconocidos</a:t>
            </a:r>
            <a:r>
              <a:rPr lang="en-US" sz="2000" b="1" dirty="0"/>
              <a:t> </a:t>
            </a:r>
            <a:r>
              <a:rPr lang="en-US" sz="2000" b="1" dirty="0" err="1"/>
              <a:t>pero</a:t>
            </a:r>
            <a:r>
              <a:rPr lang="en-US" sz="2000" b="1" dirty="0"/>
              <a:t> </a:t>
            </a:r>
            <a:r>
              <a:rPr lang="en-US" sz="2000" b="1" dirty="0" err="1"/>
              <a:t>inciertos</a:t>
            </a:r>
            <a:r>
              <a:rPr lang="en-US" sz="2000" b="1" dirty="0"/>
              <a:t>, </a:t>
            </a:r>
            <a:r>
              <a:rPr lang="en-US" sz="2000" b="1" dirty="0" err="1"/>
              <a:t>necesitan</a:t>
            </a:r>
            <a:r>
              <a:rPr lang="en-US" sz="2000" b="1" dirty="0"/>
              <a:t> </a:t>
            </a:r>
            <a:r>
              <a:rPr lang="en-US" sz="2000" b="1" dirty="0" err="1"/>
              <a:t>una</a:t>
            </a:r>
            <a:r>
              <a:rPr lang="en-US" sz="2000" b="1" dirty="0"/>
              <a:t> </a:t>
            </a:r>
            <a:r>
              <a:rPr lang="en-US" sz="2000" b="1" dirty="0" err="1"/>
              <a:t>distribución</a:t>
            </a:r>
            <a:r>
              <a:rPr lang="en-US" sz="2000" b="1" dirty="0"/>
              <a:t> de </a:t>
            </a:r>
            <a:r>
              <a:rPr lang="en-US" sz="2000" b="1" dirty="0" err="1"/>
              <a:t>probabilidad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75775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3A12D-1E7D-6D02-DD60-7F33604A8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Los </a:t>
            </a:r>
            <a:r>
              <a:rPr lang="en-US" sz="3600" b="1" dirty="0" err="1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r>
              <a:rPr lang="en-US" sz="36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las </a:t>
            </a:r>
            <a:r>
              <a:rPr lang="en-US" sz="3600" b="1" dirty="0" err="1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citas</a:t>
            </a:r>
            <a:r>
              <a:rPr lang="en-US" sz="36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3600" b="1" dirty="0" err="1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ciegas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3149B5-6B7C-DF28-B1FE-EE84F2E884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Silvia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tiene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tres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citas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completamente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a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ciegas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con la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misma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persona (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ninguno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se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ve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solo se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escuchan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el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uno al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otro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). En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nuestros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términos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estadísticos</a:t>
                </a:r>
                <a:endParaRPr lang="en-US" sz="20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n-US" sz="20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</m:t>
                      </m:r>
                    </m:oMath>
                  </m:oMathPara>
                </a14:m>
                <a:endParaRPr lang="en-US" sz="20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es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el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número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total de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citas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con la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misma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persona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¿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Cómo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modelamos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los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resultados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de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estas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tres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citas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sabiendo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el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carisma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de Silvia? Si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recordamos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el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evento</a:t>
                </a:r>
                <a:endParaRPr lang="en-US" sz="20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 algn="ctr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= 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es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el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número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de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citas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que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fueron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bien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en-US" sz="20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Proponemos</a:t>
                </a:r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la variable </a:t>
                </a:r>
                <a:r>
                  <a:rPr lang="en-US" sz="20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aleatoria</a:t>
                </a:r>
                <a:endParaRPr lang="en-US" sz="2000" dirty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𝑌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3149B5-6B7C-DF28-B1FE-EE84F2E884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3304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3B00E-80F4-91E1-0162-175526610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Distribución</a:t>
            </a:r>
            <a:r>
              <a:rPr lang="en-US" dirty="0"/>
              <a:t> Binomial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61C8B-6D38-2246-3EA5-1F84CC654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450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1D7985-1388-7D51-8F82-BCEB372A6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78F63B-004F-E16D-0D71-3258D5FC02DC}"/>
              </a:ext>
            </a:extLst>
          </p:cNvPr>
          <p:cNvSpPr txBox="1"/>
          <p:nvPr/>
        </p:nvSpPr>
        <p:spPr>
          <a:xfrm>
            <a:off x="1051560" y="586822"/>
            <a:ext cx="3657600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>
                <a:latin typeface="+mj-lt"/>
                <a:ea typeface="+mj-ea"/>
                <a:cs typeface="+mj-cs"/>
              </a:rPr>
              <a:t>Distribución Binomial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0C72B6F3-08C3-2EEC-97D0-5D70D5DA6B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2459486"/>
            <a:ext cx="5041737" cy="403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481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A37E8-2612-12A7-E359-96B4BBA25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Verosimilitud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cita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108353E-EFEE-63C6-0DF6-477C95CADA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24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rimera persona dos de las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tres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citas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salieron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bien. La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probabilidad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de que dos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citas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salieron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bien dado que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sabemos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el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carisma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de Silvia es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𝑌</m:t>
                          </m:r>
                          <m:r>
                            <a:rPr lang="en-US" sz="2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2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4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24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Si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US" sz="24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0.1</m:t>
                      </m:r>
                    </m:oMath>
                  </m:oMathPara>
                </a14:m>
                <a:endParaRPr lang="en-US" sz="24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entonces</a:t>
                </a:r>
                <a:endParaRPr lang="en-US" sz="24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𝑌</m:t>
                          </m:r>
                          <m:r>
                            <a:rPr lang="en-US" sz="2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2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𝜃</m:t>
                          </m:r>
                          <m:r>
                            <a:rPr lang="en-US" sz="2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0.1</m:t>
                          </m:r>
                        </m:e>
                      </m:d>
                      <m:r>
                        <a:rPr lang="en-US" sz="24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108353E-EFEE-63C6-0DF6-477C95CADA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035" r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9DCFEC1-B910-42A3-B607-D5B7FD4EFF2D}"/>
              </a:ext>
            </a:extLst>
          </p:cNvPr>
          <p:cNvSpPr txBox="1"/>
          <p:nvPr/>
        </p:nvSpPr>
        <p:spPr>
          <a:xfrm>
            <a:off x="4545497" y="5992297"/>
            <a:ext cx="3494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Este es un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escenario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inverosímil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191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9746A-7565-BDE5-6001-B94A1A479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Verosimilitud</a:t>
            </a:r>
            <a:r>
              <a:rPr lang="en-US" dirty="0"/>
              <a:t> con dos </a:t>
            </a:r>
            <a:r>
              <a:rPr lang="en-US" dirty="0" err="1"/>
              <a:t>citas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E45C70-AA4D-D2F0-AFD9-1CFD0720AB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b="0" i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en-US" b="1" dirty="0">
                  <a:solidFill>
                    <a:srgbClr val="0F4761"/>
                  </a:solidFill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800"/>
                  </a:spcBef>
                  <a:spcAft>
                    <a:spcPts val="400"/>
                  </a:spcAft>
                  <a:buNone/>
                </a:pPr>
                <a:r>
                  <a:rPr lang="en-US" b="1" dirty="0">
                    <a:solidFill>
                      <a:srgbClr val="0F4761"/>
                    </a:solidFill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La </a:t>
                </a:r>
                <a:r>
                  <a:rPr lang="en-US" b="1" dirty="0" err="1">
                    <a:solidFill>
                      <a:srgbClr val="0F4761"/>
                    </a:solidFill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función</a:t>
                </a:r>
                <a:r>
                  <a:rPr lang="en-US" b="1" dirty="0">
                    <a:solidFill>
                      <a:srgbClr val="0F4761"/>
                    </a:solidFill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b="1" dirty="0" err="1">
                    <a:solidFill>
                      <a:srgbClr val="0F4761"/>
                    </a:solidFill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verosimilitud</a:t>
                </a:r>
                <a:r>
                  <a:rPr lang="en-US" b="1" dirty="0">
                    <a:solidFill>
                      <a:srgbClr val="0F4761"/>
                    </a:solidFill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(likelihood function)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E45C70-AA4D-D2F0-AFD9-1CFD0720AB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7980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8A4B0-F86D-8A70-563D-2A84A022D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Verosimilitud</a:t>
            </a:r>
            <a:r>
              <a:rPr lang="en-US" dirty="0"/>
              <a:t> con dos </a:t>
            </a:r>
            <a:r>
              <a:rPr lang="en-US"/>
              <a:t>citas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C322D5-575D-EF15-24E0-577B23683CAC}"/>
              </a:ext>
            </a:extLst>
          </p:cNvPr>
          <p:cNvSpPr txBox="1"/>
          <p:nvPr/>
        </p:nvSpPr>
        <p:spPr>
          <a:xfrm>
            <a:off x="838200" y="158932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</a:t>
            </a:r>
            <a:r>
              <a:rPr lang="en-US" sz="18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función</a:t>
            </a:r>
            <a:r>
              <a:rPr lang="en-U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18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verosimilitud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 define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como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la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probabilidad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datos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dado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modelo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153C69B-702F-626B-11B9-F408C562A7FD}"/>
                  </a:ext>
                </a:extLst>
              </p:cNvPr>
              <p:cNvSpPr txBox="1"/>
              <p:nvPr/>
            </p:nvSpPr>
            <p:spPr>
              <a:xfrm>
                <a:off x="171480" y="2461241"/>
                <a:ext cx="6096000" cy="907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𝐷𝑎𝑡𝑜𝑠</m:t>
                          </m:r>
                          <m:d>
                            <m:dPr>
                              <m:begChr m:val="|"/>
                              <m:end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nary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153C69B-702F-626B-11B9-F408C562A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80" y="2461241"/>
                <a:ext cx="6096000" cy="907300"/>
              </a:xfrm>
              <a:prstGeom prst="rect">
                <a:avLst/>
              </a:prstGeom>
              <a:blipFill>
                <a:blip r:embed="rId2"/>
                <a:stretch>
                  <a:fillRect t="-89041" b="-1383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26069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CC7B6-E5D3-7953-E659-1F0966CBA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err="1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Inferencia</a:t>
            </a:r>
            <a:r>
              <a:rPr lang="en-US" sz="36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bayesiana</a:t>
            </a:r>
            <a:r>
              <a:rPr lang="en-US" sz="36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La </a:t>
            </a:r>
            <a:r>
              <a:rPr lang="en-US" sz="3600" b="1" dirty="0" err="1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distribución</a:t>
            </a:r>
            <a:r>
              <a:rPr lang="en-US" sz="36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posterior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107A3F-A5DF-742E-61E7-952E00C5C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</a:t>
                </a: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 </a:t>
                </a:r>
                <a:r>
                  <a:rPr lang="en-US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el</a:t>
                </a: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nuevo </a:t>
                </a:r>
                <a:r>
                  <a:rPr lang="en-US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lenguaje</a:t>
                </a: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de </a:t>
                </a:r>
                <a:r>
                  <a:rPr lang="en-US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nuestras</a:t>
                </a: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variables </a:t>
                </a:r>
                <a:r>
                  <a:rPr lang="en-US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aleatorias</a:t>
                </a:r>
                <a:endParaRPr lang="en-US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𝜃</m:t>
                          </m:r>
                          <m:r>
                            <a:rPr lang="en-US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𝐷𝑎𝑡𝑜𝑠</m:t>
                          </m:r>
                        </m:e>
                      </m:d>
                    </m:oMath>
                  </m:oMathPara>
                </a14:m>
                <a:endParaRPr lang="en-US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en-US" dirty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La </a:t>
                </a:r>
                <a:r>
                  <a:rPr lang="en-US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distribución</a:t>
                </a: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posterior es </a:t>
                </a:r>
                <a:r>
                  <a:rPr lang="en-US" b="1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proporcional</a:t>
                </a: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a la </a:t>
                </a:r>
                <a:r>
                  <a:rPr lang="en-US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verosimilitud</a:t>
                </a: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multiplicada</a:t>
                </a: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por</a:t>
                </a: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la </a:t>
                </a:r>
                <a:r>
                  <a:rPr lang="en-US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distribución</a:t>
                </a:r>
                <a:r>
                  <a:rPr lang="en-US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a priori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en-US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limLowPr>
                        <m:e>
                          <m:limLow>
                            <m:limLow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  <m:r>
                                    <a:rPr lang="en-US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𝐷𝑎𝑡𝑎</m:t>
                                  </m:r>
                                </m:e>
                              </m:d>
                            </m:e>
                            <m:lim>
                              <m:r>
                                <a:rPr lang="en-US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⏟</m:t>
                              </m:r>
                            </m:lim>
                          </m:limLow>
                        </m:e>
                        <m:lim/>
                      </m:limLow>
                      <m:r>
                        <a:rPr lang="en-US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∝</m:t>
                      </m:r>
                      <m:limLow>
                        <m:limLow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limLowPr>
                        <m:e>
                          <m:limLow>
                            <m:limLow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𝐷𝑎𝑡𝑎</m:t>
                                  </m:r>
                                  <m:r>
                                    <a:rPr lang="en-US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  <m:lim>
                              <m:r>
                                <a:rPr lang="en-US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⏟</m:t>
                              </m:r>
                            </m:lim>
                          </m:limLow>
                        </m:e>
                        <m:lim/>
                      </m:limLow>
                      <m:r>
                        <a:rPr lang="en-US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×</m:t>
                      </m:r>
                      <m:limLow>
                        <m:limLow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limLowPr>
                        <m:e>
                          <m:limLow>
                            <m:limLow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  <m:lim>
                              <m:r>
                                <a:rPr lang="en-US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⏟</m:t>
                              </m:r>
                            </m:lim>
                          </m:limLow>
                        </m:e>
                        <m:lim/>
                      </m:limLow>
                    </m:oMath>
                  </m:oMathPara>
                </a14:m>
                <a:endParaRPr lang="en-US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en-US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107A3F-A5DF-742E-61E7-952E00C5C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1455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38A7E-20DC-0B44-EAEC-31DDC104C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D359F-7EE6-92D6-C416-AE8A455AD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0730" y="1825625"/>
            <a:ext cx="3853070" cy="1699453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Comparemos</a:t>
            </a:r>
            <a:r>
              <a:rPr lang="en-US" dirty="0"/>
              <a:t> las </a:t>
            </a:r>
            <a:r>
              <a:rPr lang="en-US" dirty="0" err="1"/>
              <a:t>tres</a:t>
            </a:r>
            <a:r>
              <a:rPr lang="en-US" dirty="0"/>
              <a:t> </a:t>
            </a:r>
            <a:r>
              <a:rPr lang="en-US" dirty="0" err="1"/>
              <a:t>funciones</a:t>
            </a:r>
            <a:r>
              <a:rPr lang="en-US" dirty="0"/>
              <a:t> que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calculamos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E45D8B-91BD-7BBF-3FDC-8ABDF5A67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5486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2402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9753-ACEF-61C8-D1B1-4C948FED2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Inferencia</a:t>
            </a:r>
            <a:r>
              <a:rPr lang="en-US" dirty="0"/>
              <a:t> </a:t>
            </a:r>
            <a:r>
              <a:rPr lang="en-US" dirty="0" err="1"/>
              <a:t>Bayesiana</a:t>
            </a:r>
            <a:r>
              <a:rPr lang="en-US" dirty="0"/>
              <a:t> </a:t>
            </a:r>
            <a:r>
              <a:rPr lang="en-US" dirty="0" err="1"/>
              <a:t>utilizando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algoritmo</a:t>
            </a:r>
            <a:r>
              <a:rPr lang="en-US" dirty="0"/>
              <a:t> MCMC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0EEE6E-A672-ABB9-0648-743EA1D35D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El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algoritmo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MCMC (Markov Chain Monte Carlo)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nos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permite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optimizar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la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distribución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posterior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en-US" sz="2400" dirty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Metropolis- Hastings- Un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tipo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de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algoritmo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del MCMC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𝜃</m:t>
                      </m:r>
                    </m:oMath>
                  </m:oMathPara>
                </a14:m>
                <a:endParaRPr lang="en-US" sz="24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Propongo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un valor de </a:t>
                </a:r>
                <a14:m>
                  <m:oMath xmlns:m="http://schemas.openxmlformats.org/officeDocument/2006/math">
                    <m:r>
                      <a:rPr lang="en-US" sz="240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: 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¿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incrementa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el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valor de la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probabilidad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posterior?-</a:t>
                </a:r>
              </a:p>
              <a:p>
                <a:pPr marL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 la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respuesta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es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positiva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nos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quedamos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este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valor, y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si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es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negativa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lo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rechazamos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0EEE6E-A672-ABB9-0648-743EA1D35D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16928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E627097-D53B-F127-694E-22134C28EF3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 err="1"/>
                  <a:t>Propuesta</a:t>
                </a:r>
                <a:r>
                  <a:rPr lang="en-US" dirty="0"/>
                  <a:t>- Un nuevo valor de </a:t>
                </a:r>
                <a14:m>
                  <m:oMath xmlns:m="http://schemas.openxmlformats.org/officeDocument/2006/math">
                    <m:r>
                      <a:rPr lang="en-US" sz="440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E627097-D53B-F127-694E-22134C28EF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07D965D-D4D8-5C57-8077-3895DC6018E3}"/>
              </a:ext>
            </a:extLst>
          </p:cNvPr>
          <p:cNvSpPr txBox="1"/>
          <p:nvPr/>
        </p:nvSpPr>
        <p:spPr>
          <a:xfrm>
            <a:off x="838200" y="1826280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atinLnBrk="1">
              <a:spcAft>
                <a:spcPts val="10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proposalfunction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&lt;- function(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nvals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=1){</a:t>
            </a:r>
            <a:b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unif_val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&lt;-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runif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nvals,min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=0, max=1)</a:t>
            </a:r>
            <a:b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 return(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unif_val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)}</a:t>
            </a:r>
            <a:b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# Esta es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una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propuesta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una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distribución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uniforme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Selecciona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valores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aleatorios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entre 0 y 1</a:t>
            </a:r>
            <a:endParaRPr lang="en-US" sz="18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3F2F64-E9C4-47C8-5F29-FC93434C226B}"/>
              </a:ext>
            </a:extLst>
          </p:cNvPr>
          <p:cNvSpPr txBox="1"/>
          <p:nvPr/>
        </p:nvSpPr>
        <p:spPr>
          <a:xfrm>
            <a:off x="2438400" y="3580606"/>
            <a:ext cx="70977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¿</a:t>
            </a:r>
            <a:r>
              <a:rPr lang="en-US" sz="2800" dirty="0" err="1"/>
              <a:t>Qué</a:t>
            </a:r>
            <a:r>
              <a:rPr lang="en-US" sz="2800" dirty="0"/>
              <a:t> </a:t>
            </a:r>
            <a:r>
              <a:rPr lang="en-US" sz="2800" dirty="0" err="1"/>
              <a:t>esta</a:t>
            </a:r>
            <a:r>
              <a:rPr lang="en-US" sz="2800" dirty="0"/>
              <a:t> </a:t>
            </a:r>
            <a:r>
              <a:rPr lang="en-US" sz="2800" dirty="0" err="1"/>
              <a:t>pasando</a:t>
            </a:r>
            <a:r>
              <a:rPr lang="en-US" sz="2800" dirty="0"/>
              <a:t> </a:t>
            </a:r>
            <a:r>
              <a:rPr lang="en-US" sz="2800" dirty="0" err="1"/>
              <a:t>en</a:t>
            </a:r>
            <a:r>
              <a:rPr lang="en-US" sz="2800" dirty="0"/>
              <a:t> </a:t>
            </a:r>
            <a:r>
              <a:rPr lang="en-US" sz="2800" dirty="0" err="1"/>
              <a:t>esta</a:t>
            </a:r>
            <a:r>
              <a:rPr lang="en-US" sz="2800" dirty="0"/>
              <a:t> </a:t>
            </a:r>
            <a:r>
              <a:rPr lang="en-US" sz="2800" dirty="0" err="1"/>
              <a:t>parte</a:t>
            </a:r>
            <a:r>
              <a:rPr lang="en-US" sz="2800" dirty="0"/>
              <a:t> del </a:t>
            </a:r>
            <a:r>
              <a:rPr lang="en-US" sz="2800" dirty="0" err="1"/>
              <a:t>código</a:t>
            </a:r>
            <a:r>
              <a:rPr lang="en-US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422281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C8DDE-95E9-8230-A3EC-3F82BA07B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Metropolis-Hastings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181881-2FBE-7DDB-A61A-DDC6F2D3D8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342900" marR="0" lvl="0" indent="-342900">
                  <a:spcBef>
                    <a:spcPts val="180"/>
                  </a:spcBef>
                  <a:spcAft>
                    <a:spcPts val="180"/>
                  </a:spcAft>
                  <a:buFont typeface="+mj-lt"/>
                  <a:buAutoNum type="arabicPeriod"/>
                </a:pP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Empieza con un valor para 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400" b="0" i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startvalue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)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llamado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Bef>
                    <a:spcPts val="180"/>
                  </a:spcBef>
                  <a:spcAft>
                    <a:spcPts val="180"/>
                  </a:spcAft>
                  <a:buFont typeface="+mj-lt"/>
                  <a:buAutoNum type="arabicPeriod"/>
                </a:pP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Haz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𝑜𝑙𝑑</m:t>
                        </m:r>
                      </m:sub>
                    </m:sSub>
                    <m:r>
                      <a:rPr lang="en-US" sz="24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Bef>
                    <a:spcPts val="180"/>
                  </a:spcBef>
                  <a:spcAft>
                    <a:spcPts val="180"/>
                  </a:spcAft>
                  <a:buFont typeface="+mj-lt"/>
                  <a:buAutoNum type="arabicPeriod"/>
                </a:pP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Calcula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la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distribución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posterior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𝑜𝑙𝑑</m:t>
                            </m:r>
                          </m:sub>
                        </m:sSub>
                        <m:r>
                          <a:rPr lang="en-US" sz="24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𝐷𝑎𝑡𝑜𝑠</m:t>
                        </m:r>
                      </m:e>
                    </m:d>
                  </m:oMath>
                </a14:m>
                <a:endParaRPr lang="en-US" sz="24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Bef>
                    <a:spcPts val="180"/>
                  </a:spcBef>
                  <a:spcAft>
                    <a:spcPts val="180"/>
                  </a:spcAft>
                  <a:buFont typeface="+mj-lt"/>
                  <a:buAutoNum type="arabicPeriod"/>
                </a:pP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Proponer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una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distribución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aleatoria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en-US" sz="2400" b="0" i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para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obtener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un nuevo valor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𝑒𝑤</m:t>
                        </m:r>
                      </m:sub>
                    </m:sSub>
                  </m:oMath>
                </a14:m>
                <a:endParaRPr lang="en-US" sz="24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Bef>
                    <a:spcPts val="180"/>
                  </a:spcBef>
                  <a:spcAft>
                    <a:spcPts val="180"/>
                  </a:spcAft>
                  <a:buFont typeface="+mj-lt"/>
                  <a:buAutoNum type="arabicPeriod"/>
                </a:pP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Calcula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la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distribución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posterior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𝑛𝑒𝑤</m:t>
                            </m:r>
                          </m:sub>
                        </m:sSub>
                        <m:r>
                          <a:rPr lang="en-US" sz="24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𝐷𝑎𝑡𝑜𝑠</m:t>
                        </m:r>
                      </m:e>
                    </m:d>
                  </m:oMath>
                </a14:m>
                <a:endParaRPr lang="en-US" sz="24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Bef>
                    <a:spcPts val="180"/>
                  </a:spcBef>
                  <a:spcAft>
                    <a:spcPts val="180"/>
                  </a:spcAft>
                  <a:buFont typeface="+mj-lt"/>
                  <a:buAutoNum type="arabicPeriod"/>
                </a:pP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Calcula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los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momios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𝑚𝑜𝑚𝑖𝑜𝑠</m:t>
                    </m:r>
                    <m:r>
                      <a:rPr lang="en-US" sz="24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𝑛𝑒𝑤</m:t>
                                </m:r>
                              </m:sub>
                            </m:sSub>
                            <m:r>
                              <a:rPr lang="en-US" sz="24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𝐷𝑎𝑡𝑜𝑠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𝑜𝑙𝑑</m:t>
                                </m:r>
                              </m:sub>
                            </m:sSub>
                            <m:r>
                              <a:rPr lang="en-US" sz="24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𝐷𝑎𝑡𝑜𝑠</m:t>
                            </m:r>
                          </m:e>
                        </m:d>
                      </m:den>
                    </m:f>
                  </m:oMath>
                </a14:m>
                <a:endParaRPr lang="en-US" sz="24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Bef>
                    <a:spcPts val="180"/>
                  </a:spcBef>
                  <a:spcAft>
                    <a:spcPts val="180"/>
                  </a:spcAft>
                  <a:buFont typeface="+mj-lt"/>
                  <a:buAutoNum type="arabicPeriod"/>
                </a:pP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Calcula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un valor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aleatorio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𝑢</m:t>
                    </m:r>
                  </m:oMath>
                </a14:m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entre 0 y 1</a:t>
                </a:r>
              </a:p>
              <a:p>
                <a:pPr marL="342900" marR="0" lvl="0" indent="-342900">
                  <a:spcBef>
                    <a:spcPts val="180"/>
                  </a:spcBef>
                  <a:spcAft>
                    <a:spcPts val="180"/>
                  </a:spcAft>
                  <a:buFont typeface="+mj-lt"/>
                  <a:buAutoNum type="arabicPeriod"/>
                </a:pP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Si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𝑚𝑜𝑚𝑖𝑜𝑠</m:t>
                    </m:r>
                  </m:oMath>
                </a14:m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entonces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acepta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𝑛𝑒𝑤</m:t>
                        </m:r>
                      </m:sub>
                    </m:sSub>
                  </m:oMath>
                </a14:m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guárdalo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sino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rechaza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y no lo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guardes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marR="0" lvl="0" indent="-342900">
                  <a:spcBef>
                    <a:spcPts val="180"/>
                  </a:spcBef>
                  <a:spcAft>
                    <a:spcPts val="180"/>
                  </a:spcAft>
                  <a:buFont typeface="+mj-lt"/>
                  <a:buAutoNum type="arabicPeriod"/>
                </a:pP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Si lo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aceptas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haz</a:t>
                </a:r>
                <a:r>
                  <a:rPr lang="en-US" sz="24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𝑜𝑙𝑑</m:t>
                        </m:r>
                      </m:sub>
                    </m:sSub>
                    <m:r>
                      <a:rPr lang="en-US" sz="24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𝑛𝑒𝑤</m:t>
                        </m:r>
                      </m:sub>
                    </m:sSub>
                  </m:oMath>
                </a14:m>
                <a:r>
                  <a:rPr lang="en-US" sz="24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y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vuelve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al paso dos hasta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acabar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las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iteraciones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Sino continua al paso dos con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el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mismo</a:t>
                </a:r>
                <a:r>
                  <a:rPr lang="en-US" sz="24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𝑜𝑙𝑑</m:t>
                        </m:r>
                      </m:sub>
                    </m:sSub>
                  </m:oMath>
                </a14:m>
                <a:r>
                  <a:rPr lang="en-US" sz="24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hasta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acabar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las </a:t>
                </a:r>
                <a:r>
                  <a:rPr lang="en-US" sz="2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iteraciones</a:t>
                </a:r>
                <a:r>
                  <a:rPr lang="en-US" sz="2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181881-2FBE-7DDB-A61A-DDC6F2D3D8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601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880DFE-AF9E-5C6C-E4BE-D0C13CD14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84" y="320040"/>
            <a:ext cx="7772400" cy="62179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C241E0-BD8B-A659-95BF-F5FEB4308274}"/>
              </a:ext>
            </a:extLst>
          </p:cNvPr>
          <p:cNvSpPr txBox="1"/>
          <p:nvPr/>
        </p:nvSpPr>
        <p:spPr>
          <a:xfrm>
            <a:off x="8272670" y="821634"/>
            <a:ext cx="3575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¿</a:t>
            </a:r>
            <a:r>
              <a:rPr lang="en-US" sz="2400" dirty="0" err="1"/>
              <a:t>Cómo</a:t>
            </a:r>
            <a:r>
              <a:rPr lang="en-US" sz="2400" dirty="0"/>
              <a:t> saber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MCMC </a:t>
            </a:r>
          </a:p>
          <a:p>
            <a:r>
              <a:rPr lang="en-US" sz="2400" dirty="0" err="1"/>
              <a:t>encontró</a:t>
            </a:r>
            <a:r>
              <a:rPr lang="en-US" sz="2400" dirty="0"/>
              <a:t> la posterior?</a:t>
            </a:r>
          </a:p>
        </p:txBody>
      </p:sp>
    </p:spTree>
    <p:extLst>
      <p:ext uri="{BB962C8B-B14F-4D97-AF65-F5344CB8AC3E}">
        <p14:creationId xmlns:p14="http://schemas.microsoft.com/office/powerpoint/2010/main" val="41839336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8A4758-2717-5617-5701-6E72C5759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730394-BEA9-7B6E-083B-31B279107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2600" b="1"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Inferencia bayesiana: La distribución posterior</a:t>
            </a:r>
            <a:endParaRPr lang="en-US" sz="26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1844F6-6A05-7451-02E0-EBF6A0079A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0936" y="2807208"/>
                <a:ext cx="3429000" cy="3410712"/>
              </a:xfrm>
            </p:spPr>
            <p:txBody>
              <a:bodyPr anchor="t">
                <a:normAutofit/>
              </a:bodyPr>
              <a:lstStyle/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𝜃</m:t>
                          </m:r>
                          <m:r>
                            <a:rPr lang="en-US" sz="22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2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𝐷𝑎𝑡𝑜𝑠</m:t>
                          </m:r>
                        </m:e>
                      </m:d>
                    </m:oMath>
                  </m:oMathPara>
                </a14:m>
                <a:endParaRPr lang="en-US" sz="22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en-US" sz="2200" dirty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en-US" sz="22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1844F6-6A05-7451-02E0-EBF6A0079A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936" y="2807208"/>
                <a:ext cx="3429000" cy="341071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5707E5F-DA1C-0C03-4668-AD65BB956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667513"/>
            <a:ext cx="6903720" cy="552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519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7984</TotalTime>
  <Words>1026</Words>
  <Application>Microsoft Macintosh PowerPoint</Application>
  <PresentationFormat>Widescreen</PresentationFormat>
  <Paragraphs>120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Cambria Math</vt:lpstr>
      <vt:lpstr>Consolas</vt:lpstr>
      <vt:lpstr>Office Theme</vt:lpstr>
      <vt:lpstr>Introducción a Estadística Bayesiana</vt:lpstr>
      <vt:lpstr>¿Qué es la estadística Bayesiana?</vt:lpstr>
      <vt:lpstr>¿Cuándo hacemos estadística bayesiana  y cuando no?</vt:lpstr>
      <vt:lpstr>Conceptos bayesianos importantes</vt:lpstr>
      <vt:lpstr>Ejemplo:  El experimento de un reality show “El amor es ciego”</vt:lpstr>
      <vt:lpstr>Definición de Eventos</vt:lpstr>
      <vt:lpstr>Definición de probabilidad a priori</vt:lpstr>
      <vt:lpstr>El objetivo final: P(A|B)</vt:lpstr>
      <vt:lpstr>P(A|B) es difícil de estimar</vt:lpstr>
      <vt:lpstr>Variables aleatorias</vt:lpstr>
      <vt:lpstr>Variables aleatorias</vt:lpstr>
      <vt:lpstr>PowerPoint Presentation</vt:lpstr>
      <vt:lpstr>PowerPoint Presentation</vt:lpstr>
      <vt:lpstr>Los datos, las citas a ciegas</vt:lpstr>
      <vt:lpstr>Distribución Binomial</vt:lpstr>
      <vt:lpstr>PowerPoint Presentation</vt:lpstr>
      <vt:lpstr>Verosimilitud de una cita</vt:lpstr>
      <vt:lpstr>Verosimilitud con dos citas</vt:lpstr>
      <vt:lpstr>Verosimilitud con dos citas</vt:lpstr>
      <vt:lpstr>Inferencia bayesiana: La distribución posterior</vt:lpstr>
      <vt:lpstr>PowerPoint Presentation</vt:lpstr>
      <vt:lpstr>Inferencia Bayesiana utilizando el algoritmo MCMC</vt:lpstr>
      <vt:lpstr>Propuesta- Un nuevo valor de θ</vt:lpstr>
      <vt:lpstr>Metropolis-Hastings</vt:lpstr>
      <vt:lpstr>PowerPoint Presentation</vt:lpstr>
      <vt:lpstr>Inferencia bayesiana: La distribución posterior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Zenil-Ferguson, Rosana</dc:creator>
  <cp:lastModifiedBy>Zenil-Ferguson, Rosana</cp:lastModifiedBy>
  <cp:revision>5</cp:revision>
  <cp:lastPrinted>2025-06-18T20:00:29Z</cp:lastPrinted>
  <dcterms:created xsi:type="dcterms:W3CDTF">2025-01-07T19:05:10Z</dcterms:created>
  <dcterms:modified xsi:type="dcterms:W3CDTF">2025-06-20T02:43:49Z</dcterms:modified>
</cp:coreProperties>
</file>