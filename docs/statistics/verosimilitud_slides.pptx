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7"/>
    <p:restoredTop sz="94630"/>
  </p:normalViewPr>
  <p:slideViewPr>
    <p:cSldViewPr snapToGrid="0">
      <p:cViewPr varScale="1">
        <p:scale>
          <a:sx n="96" d="100"/>
          <a:sy n="96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9BE2B-4136-2B89-94C4-265B9A17C6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98FC28-8010-AA9B-E28F-03C0A5A09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D222C-80F2-F1DC-D69A-80E44A28B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E6E66-6A34-C89C-65E7-8856C0ABE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84987-6D2D-9EFC-2E25-B641D96F1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071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FB95F-D09A-3B24-DC23-B77D9305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0C0F2-B6A0-1B68-E71B-AB270D39A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93E10-DB4E-A9E0-49A7-A1550546D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F8B73-DAF7-7157-CB9C-790002B69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610A-D8C1-42FC-53CE-059248E73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27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DC87B-E080-CBD0-0559-705F3FCD1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3B056A-CE2F-9FB4-511F-ACEDC7809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737DF-E598-CF4B-42B9-28C44ED50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4E686-1081-1380-5582-59221635E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8A061E-A8E2-4779-EE41-18A31C89B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270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9CD29-F8F8-B1DF-163A-2A63ACC5F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7D362-A7FB-BE87-56A7-EF4E9536D3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93E668-F7F6-038C-E9D7-29C44D0287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72853-1057-FACA-1A5B-06F453631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905AE-8DC6-B850-30D5-7487C308B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9E4C58-FD1C-EE84-5845-49612890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68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E79B-1047-03D1-43D9-7C5B4452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8A57B0-467D-9893-9311-5ABDDB938B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938CB-C15A-99B3-13D5-F13320727C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F1E1A2-74CC-45A9-3DD3-10F4512816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73AB9A-DF8C-A548-2FEF-37FC7CC824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84CD05-E4F3-21D2-C8B3-A389CFB3E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C46552-96EB-8AE5-8A9A-1C8EF54F1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91A6C-D271-24DA-3362-88C054B43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578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0F0B5-FE3C-6BF1-0CA2-1DA9916A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BECAB9-977D-B08F-A228-CBE3C703C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CB9DDF-6FC8-DCC4-91F2-D3B3C2DD7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557C37-0258-0D35-2C0C-A276CDDD6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120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F9A262-7A0A-5FDB-57E7-360F37736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526579-04FE-5C85-E459-C65F643C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460F31-AC77-1E0F-A5FA-2603B2040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1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95691-EB5B-3604-4BD8-ACEC087B7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02119-34F3-0A7F-254F-B1BB3EA426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54290-3EA5-DA91-73B6-29075420F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10237-F0AB-4E88-F949-B2C730322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98326-84FB-4BE9-89C6-641E35392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CC7A0-066A-31C1-F108-34C2FF6F9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73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72F46-0462-E4A2-09A9-E6296FB0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CF9E07-9941-8959-04BB-23E9E00719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4DBCC1-A465-3997-31B5-AB9BCE825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C04BAA-5B72-207D-5C17-04379CF4C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F4918-6880-8F46-361B-FE789ADA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99CEBB-D5F3-969A-5A3D-99206CF1E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90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72174-02FD-C9DA-2CD2-58CB55E5D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FCA776-B35D-326A-94E7-52AC661EC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FDCE1-7533-DFD2-88CC-8CD2BFC3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0CB42-630A-1294-4E2D-01CF360CC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FE8B8-2514-CA79-5FAA-A089FBC02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87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28274F-425C-485F-69B7-9805BA4B09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D6DE08-705C-19C2-C351-E93F718FAA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54B2F-D7AE-2670-BF33-B7BCF1288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0B88F6-686A-FD90-F473-DC4366944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6CDFA-F54E-08F4-F2AE-628D116AA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701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C597F-8101-0886-EB0E-FDDA5D196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85B231-067C-27CC-A910-AB4ADE70C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23B60-C238-6D2A-DCF2-F7E057D2FC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9B5E8-56FB-8648-8097-76B44807C5A1}" type="datetimeFigureOut">
              <a:rPr lang="en-US" smtClean="0"/>
              <a:t>6/19/25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D53481-0FA7-100D-E41D-6275CFCFD7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BFCCC-1636-21A7-36C3-C1A33350FE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E36832-19B0-5847-BA94-F478894B0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763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9FA8E0-9AAD-B047-6736-62E453A48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33390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dirty="0"/>
              <a:t>Gracias!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C34C1-762F-693D-E78E-C072656E88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212848"/>
            <a:ext cx="5862396" cy="4096512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Este es </a:t>
            </a:r>
            <a:r>
              <a:rPr lang="en-US" sz="2400" dirty="0" err="1"/>
              <a:t>el</a:t>
            </a:r>
            <a:r>
              <a:rPr lang="en-US" sz="2400" dirty="0"/>
              <a:t> primer taller </a:t>
            </a:r>
            <a:r>
              <a:rPr lang="en-US" sz="2400" dirty="0" err="1"/>
              <a:t>en</a:t>
            </a:r>
            <a:r>
              <a:rPr lang="en-US" sz="2400" dirty="0"/>
              <a:t> </a:t>
            </a:r>
            <a:r>
              <a:rPr lang="en-US" sz="2400" dirty="0" err="1"/>
              <a:t>español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Evolution!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 err="1"/>
              <a:t>Materiales</a:t>
            </a:r>
            <a:r>
              <a:rPr lang="en-US" sz="2400" dirty="0"/>
              <a:t> y </a:t>
            </a:r>
            <a:r>
              <a:rPr lang="en-US" sz="2400" dirty="0" err="1"/>
              <a:t>detalles</a:t>
            </a:r>
            <a:r>
              <a:rPr lang="en-US" sz="2400" dirty="0"/>
              <a:t> </a:t>
            </a:r>
            <a:r>
              <a:rPr lang="en-US" sz="2400" dirty="0" err="1"/>
              <a:t>aquí</a:t>
            </a:r>
            <a:r>
              <a:rPr lang="en-US" sz="2400" dirty="0"/>
              <a:t>: </a:t>
            </a:r>
            <a:r>
              <a:rPr lang="en-US" sz="2400" dirty="0" err="1"/>
              <a:t>roszenil.github.io</a:t>
            </a:r>
            <a:r>
              <a:rPr lang="en-US" sz="2400" dirty="0"/>
              <a:t>/</a:t>
            </a:r>
            <a:r>
              <a:rPr lang="en-US" sz="2400" dirty="0" err="1"/>
              <a:t>mytutorials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r>
              <a:rPr lang="en-US" sz="2400" dirty="0" err="1"/>
              <a:t>Necesitamos</a:t>
            </a:r>
            <a:r>
              <a:rPr lang="en-US" sz="2400" dirty="0"/>
              <a:t> </a:t>
            </a:r>
            <a:r>
              <a:rPr lang="en-US" sz="2400" dirty="0" err="1"/>
              <a:t>procesar</a:t>
            </a:r>
            <a:r>
              <a:rPr lang="en-US" sz="2400" dirty="0"/>
              <a:t> </a:t>
            </a:r>
            <a:r>
              <a:rPr lang="en-US" sz="2400" dirty="0" err="1"/>
              <a:t>reembolsos</a:t>
            </a:r>
            <a:r>
              <a:rPr lang="en-US" sz="2400" dirty="0"/>
              <a:t> </a:t>
            </a:r>
            <a:r>
              <a:rPr lang="en-US" sz="2400" dirty="0" err="1"/>
              <a:t>muy</a:t>
            </a:r>
            <a:r>
              <a:rPr lang="en-US" sz="2400" dirty="0"/>
              <a:t> </a:t>
            </a:r>
            <a:r>
              <a:rPr lang="en-US" sz="2400" dirty="0" err="1"/>
              <a:t>rápido</a:t>
            </a:r>
            <a:r>
              <a:rPr lang="en-US" sz="2400" dirty="0"/>
              <a:t> y </a:t>
            </a:r>
            <a:r>
              <a:rPr lang="en-US" sz="2400" dirty="0" err="1"/>
              <a:t>necesitamos</a:t>
            </a:r>
            <a:r>
              <a:rPr lang="en-US" sz="2400" dirty="0"/>
              <a:t> de </a:t>
            </a:r>
            <a:r>
              <a:rPr lang="en-US" sz="2400" dirty="0" err="1"/>
              <a:t>su</a:t>
            </a:r>
            <a:r>
              <a:rPr lang="en-US" sz="2400" dirty="0"/>
              <a:t> </a:t>
            </a:r>
            <a:r>
              <a:rPr lang="en-US" sz="2400" dirty="0" err="1"/>
              <a:t>ayuda</a:t>
            </a:r>
            <a:r>
              <a:rPr lang="en-US" sz="2400" dirty="0"/>
              <a:t>. 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ADE51-963E-653E-91DD-0903910A48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1395" y="620225"/>
            <a:ext cx="4681506" cy="564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338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1E67-0425-2A3D-04FD-B11E3BF2D6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Introducción</a:t>
            </a:r>
            <a:r>
              <a:rPr lang="en-US" dirty="0"/>
              <a:t> a la </a:t>
            </a:r>
            <a:r>
              <a:rPr lang="en-US" dirty="0" err="1"/>
              <a:t>Estadística</a:t>
            </a:r>
            <a:r>
              <a:rPr lang="en-US" dirty="0"/>
              <a:t> </a:t>
            </a:r>
            <a:r>
              <a:rPr lang="en-US" dirty="0" err="1"/>
              <a:t>Evidencial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FFEBCA-2FA5-40C9-90F5-774734876B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Taller de </a:t>
            </a:r>
            <a:r>
              <a:rPr lang="en-US" dirty="0" err="1"/>
              <a:t>introducción</a:t>
            </a:r>
            <a:r>
              <a:rPr lang="en-US" dirty="0"/>
              <a:t> a la </a:t>
            </a:r>
            <a:r>
              <a:rPr lang="en-US" dirty="0" err="1"/>
              <a:t>estadística</a:t>
            </a:r>
            <a:r>
              <a:rPr lang="en-US" dirty="0"/>
              <a:t> de </a:t>
            </a:r>
            <a:r>
              <a:rPr lang="en-US" dirty="0" err="1"/>
              <a:t>verosimilitud</a:t>
            </a:r>
            <a:r>
              <a:rPr lang="en-US" dirty="0"/>
              <a:t> y </a:t>
            </a:r>
            <a:r>
              <a:rPr lang="en-US" dirty="0" err="1"/>
              <a:t>Bayesiana</a:t>
            </a:r>
            <a:endParaRPr lang="en-US" dirty="0"/>
          </a:p>
          <a:p>
            <a:r>
              <a:rPr lang="en-US" dirty="0"/>
              <a:t>Evolution 2025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9B5E8C-2C2B-01DC-C365-B62AA9E132EC}"/>
              </a:ext>
            </a:extLst>
          </p:cNvPr>
          <p:cNvSpPr txBox="1"/>
          <p:nvPr/>
        </p:nvSpPr>
        <p:spPr>
          <a:xfrm>
            <a:off x="3838341" y="6211669"/>
            <a:ext cx="48388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Rosana Zenil-Ferguson and Laura Lagomarsino</a:t>
            </a:r>
          </a:p>
          <a:p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FAF0E9-CCFD-CB75-3F5F-14CB2E97E6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7226" y="4925584"/>
            <a:ext cx="1443620" cy="1184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ACD1ADF-3072-BDC5-12C3-CE145F2D06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314" y="5100890"/>
            <a:ext cx="2597426" cy="857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: U.S. NSF horizontal | NOIRLab">
            <a:extLst>
              <a:ext uri="{FF2B5EF4-FFF2-40B4-BE49-F238E27FC236}">
                <a16:creationId xmlns:a16="http://schemas.microsoft.com/office/drawing/2014/main" id="{428CA069-0409-7F26-39F2-D5F559203F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32522" y="-226046"/>
            <a:ext cx="4338690" cy="19405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223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D128C-303D-9255-75A7-B6EBECF2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kern="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¿</a:t>
            </a:r>
            <a:r>
              <a:rPr lang="en-US" sz="3600" b="1" kern="0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Qué</a:t>
            </a:r>
            <a:r>
              <a:rPr lang="en-US" sz="3600" b="1" kern="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es la </a:t>
            </a:r>
            <a:r>
              <a:rPr lang="en-US" sz="3600" b="1" kern="0" dirty="0" err="1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b="1" kern="0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stadística</a:t>
            </a:r>
            <a:r>
              <a:rPr lang="en-US" sz="3600" b="1" kern="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kern="0" dirty="0" err="1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Evidencial</a:t>
            </a:r>
            <a:r>
              <a:rPr lang="en-US" sz="3600" b="1" kern="0" dirty="0">
                <a:solidFill>
                  <a:srgbClr val="0F4761"/>
                </a:solidFill>
                <a:effectLst/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9194-8E51-2450-9209-6E4577222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Rama  del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estudio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0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stadística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se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enfoca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inferencia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y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medida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 la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evidencia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Objetivo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: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Proporcionar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medida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para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calibrar</a:t>
            </a:r>
            <a:r>
              <a:rPr lang="en-US" sz="20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20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inferencia</a:t>
            </a:r>
            <a:endParaRPr lang="en-US" sz="20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En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estadística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evidencial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utilizamos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la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función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de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verosimilitud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pero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esta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basada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en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dos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principios</a:t>
            </a: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  <a:cs typeface="Times New Roman" panose="02020603050405020304" pitchFamily="18" charset="0"/>
              </a:rPr>
              <a:t>fundamentales</a:t>
            </a:r>
            <a:endParaRPr lang="en-US" sz="18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1. </a:t>
            </a:r>
          </a:p>
          <a:p>
            <a:pPr marL="0" indent="0">
              <a:buNone/>
            </a:pPr>
            <a:endParaRPr lang="en-US" sz="18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Aptos" panose="020B0004020202020204" pitchFamily="34" charset="0"/>
                <a:cs typeface="Times New Roman" panose="02020603050405020304" pitchFamily="18" charset="0"/>
              </a:rPr>
              <a:t>2. </a:t>
            </a:r>
          </a:p>
        </p:txBody>
      </p:sp>
    </p:spTree>
    <p:extLst>
      <p:ext uri="{BB962C8B-B14F-4D97-AF65-F5344CB8AC3E}">
        <p14:creationId xmlns:p14="http://schemas.microsoft.com/office/powerpoint/2010/main" val="245131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4" name="Rectangle 2063">
            <a:extLst>
              <a:ext uri="{FF2B5EF4-FFF2-40B4-BE49-F238E27FC236}">
                <a16:creationId xmlns:a16="http://schemas.microsoft.com/office/drawing/2014/main" id="{B3F59054-3394-4D87-8BD0-A28DCD47F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Functional Traits, Flocking Propensity, and Perceived Predation Risk in an  Amazonian Understory Bird Community | The American Naturalist: Vol 187, No 5">
            <a:extLst>
              <a:ext uri="{FF2B5EF4-FFF2-40B4-BE49-F238E27FC236}">
                <a16:creationId xmlns:a16="http://schemas.microsoft.com/office/drawing/2014/main" id="{C99DA46C-1FFC-0417-0E66-160F5B1977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3" r="1944"/>
          <a:stretch>
            <a:fillRect/>
          </a:stretch>
        </p:blipFill>
        <p:spPr bwMode="auto">
          <a:xfrm>
            <a:off x="7381653" y="10"/>
            <a:ext cx="4810347" cy="6857990"/>
          </a:xfrm>
          <a:custGeom>
            <a:avLst/>
            <a:gdLst/>
            <a:ahLst/>
            <a:cxnLst/>
            <a:rect l="l" t="t" r="r" b="b"/>
            <a:pathLst>
              <a:path w="4817171" h="6858000">
                <a:moveTo>
                  <a:pt x="22751" y="0"/>
                </a:moveTo>
                <a:lnTo>
                  <a:pt x="4817171" y="0"/>
                </a:lnTo>
                <a:lnTo>
                  <a:pt x="4817171" y="6858000"/>
                </a:lnTo>
                <a:lnTo>
                  <a:pt x="0" y="6858000"/>
                </a:lnTo>
                <a:lnTo>
                  <a:pt x="6679" y="6845555"/>
                </a:lnTo>
                <a:cubicBezTo>
                  <a:pt x="496584" y="5886487"/>
                  <a:pt x="786702" y="4695963"/>
                  <a:pt x="786702" y="3406233"/>
                </a:cubicBezTo>
                <a:cubicBezTo>
                  <a:pt x="786702" y="2215714"/>
                  <a:pt x="539501" y="1109724"/>
                  <a:pt x="116147" y="192283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Headshot of Ari E. Martinez">
            <a:extLst>
              <a:ext uri="{FF2B5EF4-FFF2-40B4-BE49-F238E27FC236}">
                <a16:creationId xmlns:a16="http://schemas.microsoft.com/office/drawing/2014/main" id="{2820578B-40E4-313B-8C8F-426B1DE46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93" r="-2" b="17091"/>
          <a:stretch>
            <a:fillRect/>
          </a:stretch>
        </p:blipFill>
        <p:spPr bwMode="auto">
          <a:xfrm>
            <a:off x="3136389" y="10"/>
            <a:ext cx="4979304" cy="3401558"/>
          </a:xfrm>
          <a:custGeom>
            <a:avLst/>
            <a:gdLst/>
            <a:ahLst/>
            <a:cxnLst/>
            <a:rect l="l" t="t" r="r" b="b"/>
            <a:pathLst>
              <a:path w="4979304" h="3364992">
                <a:moveTo>
                  <a:pt x="0" y="0"/>
                </a:moveTo>
                <a:lnTo>
                  <a:pt x="4211250" y="0"/>
                </a:lnTo>
                <a:lnTo>
                  <a:pt x="4309461" y="192282"/>
                </a:lnTo>
                <a:cubicBezTo>
                  <a:pt x="4697535" y="1033269"/>
                  <a:pt x="4937593" y="2032690"/>
                  <a:pt x="4974907" y="3110424"/>
                </a:cubicBezTo>
                <a:lnTo>
                  <a:pt x="4979304" y="3364992"/>
                </a:lnTo>
                <a:lnTo>
                  <a:pt x="800592" y="3364992"/>
                </a:lnTo>
                <a:lnTo>
                  <a:pt x="797493" y="3185579"/>
                </a:lnTo>
                <a:cubicBezTo>
                  <a:pt x="756786" y="2009870"/>
                  <a:pt x="474799" y="927359"/>
                  <a:pt x="22579" y="42066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mazonian 'lookout' birds help other species live in dangerous neighborhoods">
            <a:extLst>
              <a:ext uri="{FF2B5EF4-FFF2-40B4-BE49-F238E27FC236}">
                <a16:creationId xmlns:a16="http://schemas.microsoft.com/office/drawing/2014/main" id="{D4FC0763-154F-4E0A-2CE4-5D3191597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46"/>
          <a:stretch>
            <a:fillRect/>
          </a:stretch>
        </p:blipFill>
        <p:spPr bwMode="auto">
          <a:xfrm>
            <a:off x="3189428" y="3456432"/>
            <a:ext cx="4925479" cy="3401568"/>
          </a:xfrm>
          <a:custGeom>
            <a:avLst/>
            <a:gdLst/>
            <a:ahLst/>
            <a:cxnLst/>
            <a:rect l="l" t="t" r="r" b="b"/>
            <a:pathLst>
              <a:path w="4925479" h="3364992">
                <a:moveTo>
                  <a:pt x="749362" y="0"/>
                </a:moveTo>
                <a:lnTo>
                  <a:pt x="4925479" y="0"/>
                </a:lnTo>
                <a:lnTo>
                  <a:pt x="4921868" y="209033"/>
                </a:lnTo>
                <a:cubicBezTo>
                  <a:pt x="4884554" y="1286766"/>
                  <a:pt x="4644496" y="2286187"/>
                  <a:pt x="4256422" y="3127175"/>
                </a:cubicBezTo>
                <a:lnTo>
                  <a:pt x="4134952" y="3364992"/>
                </a:lnTo>
                <a:lnTo>
                  <a:pt x="0" y="3364992"/>
                </a:lnTo>
                <a:lnTo>
                  <a:pt x="79008" y="3202330"/>
                </a:lnTo>
                <a:cubicBezTo>
                  <a:pt x="467082" y="2361343"/>
                  <a:pt x="707140" y="1361922"/>
                  <a:pt x="744454" y="2841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2063" name="Freeform: Shape 2062">
            <a:extLst>
              <a:ext uri="{FF2B5EF4-FFF2-40B4-BE49-F238E27FC236}">
                <a16:creationId xmlns:a16="http://schemas.microsoft.com/office/drawing/2014/main" id="{2FE0ABA9-CAF1-4816-837D-5F28AAA08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65" name="Freeform: Shape 2064">
            <a:extLst>
              <a:ext uri="{FF2B5EF4-FFF2-40B4-BE49-F238E27FC236}">
                <a16:creationId xmlns:a16="http://schemas.microsoft.com/office/drawing/2014/main" id="{BC8B9C14-70F0-4F42-85FF-0DD3D5A58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E9D84A-9E45-C59A-B4AB-BCB1FD405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685800"/>
            <a:ext cx="2807208" cy="1325563"/>
          </a:xfrm>
        </p:spPr>
        <p:txBody>
          <a:bodyPr>
            <a:normAutofit/>
          </a:bodyPr>
          <a:lstStyle/>
          <a:p>
            <a:r>
              <a:rPr lang="en-US" sz="2800"/>
              <a:t>Ejemplo: El efecto de las alarmas en la jungla </a:t>
            </a:r>
          </a:p>
        </p:txBody>
      </p:sp>
      <p:sp>
        <p:nvSpPr>
          <p:cNvPr id="2067" name="Rectangle 2066">
            <a:extLst>
              <a:ext uri="{FF2B5EF4-FFF2-40B4-BE49-F238E27FC236}">
                <a16:creationId xmlns:a16="http://schemas.microsoft.com/office/drawing/2014/main" id="{98DE6C44-43F8-4DE4-AB81-66853FFEA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00685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69" name="Rectangle 2068">
            <a:extLst>
              <a:ext uri="{FF2B5EF4-FFF2-40B4-BE49-F238E27FC236}">
                <a16:creationId xmlns:a16="http://schemas.microsoft.com/office/drawing/2014/main" id="{2409529B-9B56-4F10-BE4D-F934DB89E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8912" y="2089941"/>
            <a:ext cx="2834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3B821C-AA2E-F3C6-340B-D20B2412F804}"/>
              </a:ext>
            </a:extLst>
          </p:cNvPr>
          <p:cNvSpPr txBox="1"/>
          <p:nvPr/>
        </p:nvSpPr>
        <p:spPr>
          <a:xfrm>
            <a:off x="4810348" y="6181344"/>
            <a:ext cx="6102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 err="1">
                <a:solidFill>
                  <a:srgbClr val="EEEEEE"/>
                </a:solidFill>
                <a:effectLst/>
                <a:latin typeface="Quicksand"/>
              </a:rPr>
              <a:t>Thamnomanes</a:t>
            </a:r>
            <a:r>
              <a:rPr lang="en-US" b="0" i="1" dirty="0">
                <a:solidFill>
                  <a:srgbClr val="EEEEEE"/>
                </a:solidFill>
                <a:effectLst/>
                <a:latin typeface="Quicksand"/>
              </a:rPr>
              <a:t> </a:t>
            </a:r>
            <a:r>
              <a:rPr lang="en-US" b="0" i="1" dirty="0" err="1">
                <a:solidFill>
                  <a:srgbClr val="EEEEEE"/>
                </a:solidFill>
                <a:effectLst/>
                <a:latin typeface="Quicksand"/>
              </a:rPr>
              <a:t>ardesiacus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838FCB-882C-CA67-1BED-B01AFE408997}"/>
              </a:ext>
            </a:extLst>
          </p:cNvPr>
          <p:cNvSpPr txBox="1"/>
          <p:nvPr/>
        </p:nvSpPr>
        <p:spPr>
          <a:xfrm>
            <a:off x="6696152" y="2767512"/>
            <a:ext cx="18148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1" dirty="0">
                <a:solidFill>
                  <a:srgbClr val="EEEEEE"/>
                </a:solidFill>
                <a:effectLst/>
                <a:latin typeface="Quicksand"/>
              </a:rPr>
              <a:t>Ari Martinez</a:t>
            </a:r>
          </a:p>
          <a:p>
            <a:r>
              <a:rPr lang="en-US" i="1" dirty="0">
                <a:solidFill>
                  <a:srgbClr val="EEEEEE"/>
                </a:solidFill>
                <a:latin typeface="Quicksand"/>
              </a:rPr>
              <a:t>UC Santa Cruz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860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A8E0B-89D2-F761-A564-EDE479CFF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399A7-F0E4-3FB9-4112-59CDE819A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53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85D58-3B27-E072-4C48-1C61E4C54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</a:t>
            </a:r>
            <a:r>
              <a:rPr lang="en-US" dirty="0" err="1"/>
              <a:t>aleatoria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DC64B-C1CA-DB9E-19D9-0CC54AEB28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X: </a:t>
            </a:r>
            <a:r>
              <a:rPr lang="en-US" dirty="0" err="1"/>
              <a:t>Función</a:t>
            </a:r>
            <a:r>
              <a:rPr lang="en-US" dirty="0"/>
              <a:t> del </a:t>
            </a:r>
            <a:r>
              <a:rPr lang="en-US" dirty="0" err="1"/>
              <a:t>espacio</a:t>
            </a:r>
            <a:r>
              <a:rPr lang="en-US" dirty="0"/>
              <a:t> de </a:t>
            </a:r>
            <a:r>
              <a:rPr lang="en-US" dirty="0" err="1"/>
              <a:t>eventos</a:t>
            </a:r>
            <a:r>
              <a:rPr lang="en-US" dirty="0"/>
              <a:t> a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números</a:t>
            </a:r>
            <a:r>
              <a:rPr lang="en-US" dirty="0"/>
              <a:t> </a:t>
            </a:r>
            <a:r>
              <a:rPr lang="en-US" dirty="0" err="1"/>
              <a:t>reales</a:t>
            </a:r>
            <a:r>
              <a:rPr lang="en-US" dirty="0"/>
              <a:t> o </a:t>
            </a:r>
            <a:r>
              <a:rPr lang="en-US" dirty="0" err="1"/>
              <a:t>enteros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504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AC154-1834-125B-5537-FD79FCCFE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Medida</a:t>
            </a:r>
            <a:r>
              <a:rPr lang="en-US" dirty="0"/>
              <a:t> de </a:t>
            </a:r>
            <a:r>
              <a:rPr lang="en-US" dirty="0" err="1"/>
              <a:t>probabilidad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58FE6-4A74-DC44-CA90-675A87AD1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778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22E3-1FE9-EBB1-08F3-FA000473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 </a:t>
            </a:r>
            <a:r>
              <a:rPr lang="en-US" dirty="0" err="1"/>
              <a:t>función</a:t>
            </a:r>
            <a:r>
              <a:rPr lang="en-US" dirty="0"/>
              <a:t> de </a:t>
            </a:r>
            <a:r>
              <a:rPr lang="en-US" dirty="0" err="1"/>
              <a:t>verosmilitud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15E30-CBFE-82C0-5458-F26EE3D213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L(</a:t>
            </a:r>
            <a:r>
              <a:rPr lang="el-GR" dirty="0"/>
              <a:t>θ; </a:t>
            </a:r>
            <a:r>
              <a:rPr lang="en-US" dirty="0"/>
              <a:t>X) = P(X ∣ </a:t>
            </a:r>
            <a:r>
              <a:rPr lang="en-US" dirty="0" err="1"/>
              <a:t>Modelo</a:t>
            </a:r>
            <a:r>
              <a:rPr lang="en-US" dirty="0"/>
              <a:t> o </a:t>
            </a:r>
            <a:r>
              <a:rPr lang="en-US" dirty="0" err="1"/>
              <a:t>Hipótesis</a:t>
            </a:r>
            <a:r>
              <a:rPr lang="en-US" dirty="0"/>
              <a:t> (</a:t>
            </a:r>
            <a:r>
              <a:rPr lang="el-GR" dirty="0"/>
              <a:t>θ))</a:t>
            </a: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La </a:t>
            </a:r>
            <a:r>
              <a:rPr lang="en-US" b="1" dirty="0" err="1"/>
              <a:t>probabilidad</a:t>
            </a:r>
            <a:r>
              <a:rPr lang="en-US" b="1" dirty="0"/>
              <a:t> de la </a:t>
            </a:r>
            <a:r>
              <a:rPr lang="en-US" b="1" dirty="0" err="1"/>
              <a:t>muestra</a:t>
            </a:r>
            <a:r>
              <a:rPr lang="en-US" b="1" dirty="0"/>
              <a:t> dado </a:t>
            </a:r>
            <a:r>
              <a:rPr lang="en-US" b="1" dirty="0" err="1"/>
              <a:t>el</a:t>
            </a:r>
            <a:r>
              <a:rPr lang="en-US" b="1" dirty="0"/>
              <a:t> </a:t>
            </a:r>
            <a:r>
              <a:rPr lang="en-US" b="1" dirty="0" err="1"/>
              <a:t>modelo</a:t>
            </a:r>
            <a:r>
              <a:rPr lang="en-US" b="1" dirty="0"/>
              <a:t> o la </a:t>
            </a:r>
            <a:r>
              <a:rPr lang="en-US" b="1" dirty="0" err="1"/>
              <a:t>hipótesis</a:t>
            </a:r>
            <a:endParaRPr lang="en-US" b="1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El </a:t>
            </a:r>
            <a:r>
              <a:rPr lang="en-US" dirty="0" err="1"/>
              <a:t>modelo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2. Los </a:t>
            </a:r>
            <a:r>
              <a:rPr lang="en-US" dirty="0" err="1"/>
              <a:t>datos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95950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FC62B-7905-C194-D006-F22BCC338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Máximo </a:t>
            </a:r>
            <a:r>
              <a:rPr lang="en-US" dirty="0" err="1"/>
              <a:t>Verosímil</a:t>
            </a:r>
            <a:r>
              <a:rPr lang="en-US" dirty="0"/>
              <a:t> (MLE)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2767E-DF6C-9F33-F4F5-5D26087FA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Es </a:t>
            </a:r>
            <a:r>
              <a:rPr lang="en-US" dirty="0" err="1"/>
              <a:t>el</a:t>
            </a:r>
            <a:r>
              <a:rPr lang="en-US" dirty="0"/>
              <a:t> valor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parámetros</a:t>
            </a:r>
            <a:r>
              <a:rPr lang="en-US" dirty="0"/>
              <a:t> que </a:t>
            </a:r>
            <a:r>
              <a:rPr lang="en-US" dirty="0" err="1"/>
              <a:t>maximiza</a:t>
            </a:r>
            <a:r>
              <a:rPr lang="en-US" dirty="0"/>
              <a:t> </a:t>
            </a:r>
            <a:r>
              <a:rPr lang="en-US" dirty="0" err="1"/>
              <a:t>nuestra</a:t>
            </a:r>
            <a:r>
              <a:rPr lang="en-US" dirty="0"/>
              <a:t> </a:t>
            </a:r>
            <a:r>
              <a:rPr lang="en-US" dirty="0" err="1"/>
              <a:t>verosimilitud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38624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1" name="Rectangle 3080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083" name="Freeform: Shape 3082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085" name="Freeform: Shape 3084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C52D4-8292-AFF2-78DF-5CF97031E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600" dirty="0" err="1"/>
              <a:t>Función</a:t>
            </a:r>
            <a:r>
              <a:rPr lang="en-US" sz="2600" dirty="0"/>
              <a:t> de </a:t>
            </a:r>
            <a:r>
              <a:rPr lang="en-US" sz="2600" dirty="0" err="1"/>
              <a:t>verosimilitud</a:t>
            </a:r>
            <a:endParaRPr lang="en-US" sz="2600" dirty="0"/>
          </a:p>
        </p:txBody>
      </p:sp>
      <p:sp>
        <p:nvSpPr>
          <p:cNvPr id="3087" name="Rectangle 3086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89" name="Rectangle 3088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78" name="Content Placeholder 3077">
            <a:extLst>
              <a:ext uri="{FF2B5EF4-FFF2-40B4-BE49-F238E27FC236}">
                <a16:creationId xmlns:a16="http://schemas.microsoft.com/office/drawing/2014/main" id="{A01D3519-4C4A-DCAE-DD25-8E725144A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endParaRPr lang="en-US" sz="170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077DA12-45A3-7B9A-BB43-DB3D09D727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55672" y="569843"/>
            <a:ext cx="7367520" cy="538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4566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F0C52-B9E7-B96A-9FCF-4F3CDDFBE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de </a:t>
            </a:r>
            <a:r>
              <a:rPr lang="en-US" dirty="0" err="1"/>
              <a:t>razones</a:t>
            </a:r>
            <a:r>
              <a:rPr lang="en-US" dirty="0"/>
              <a:t> de </a:t>
            </a:r>
            <a:r>
              <a:rPr lang="en-US" dirty="0" err="1"/>
              <a:t>verosimilitud</a:t>
            </a:r>
            <a:br>
              <a:rPr lang="en-US" dirty="0"/>
            </a:br>
            <a:r>
              <a:rPr lang="en-US" dirty="0"/>
              <a:t>Likelihood ratio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01815D-7772-317A-A4FE-9CD595384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i="1" dirty="0"/>
              <a:t>LRT</a:t>
            </a:r>
            <a:r>
              <a:rPr lang="en-US" dirty="0"/>
              <a:t>=−2(</a:t>
            </a:r>
            <a:r>
              <a:rPr lang="en-US" i="1" dirty="0"/>
              <a:t>log</a:t>
            </a:r>
            <a:r>
              <a:rPr lang="en-US" dirty="0"/>
              <a:t>(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0​))−</a:t>
            </a:r>
            <a:r>
              <a:rPr lang="en-US" i="1" dirty="0"/>
              <a:t>log</a:t>
            </a:r>
            <a:r>
              <a:rPr lang="en-US" dirty="0"/>
              <a:t>(</a:t>
            </a:r>
            <a:r>
              <a:rPr lang="en-US" i="1" dirty="0"/>
              <a:t>L</a:t>
            </a:r>
            <a:r>
              <a:rPr lang="en-US" dirty="0"/>
              <a:t>(</a:t>
            </a:r>
            <a:r>
              <a:rPr lang="en-US" i="1" dirty="0"/>
              <a:t>H</a:t>
            </a:r>
            <a:r>
              <a:rPr lang="en-US" dirty="0"/>
              <a:t>1​)))</a:t>
            </a:r>
          </a:p>
        </p:txBody>
      </p:sp>
    </p:spTree>
    <p:extLst>
      <p:ext uri="{BB962C8B-B14F-4D97-AF65-F5344CB8AC3E}">
        <p14:creationId xmlns:p14="http://schemas.microsoft.com/office/powerpoint/2010/main" val="1280854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231</Words>
  <Application>Microsoft Macintosh PowerPoint</Application>
  <PresentationFormat>Widescreen</PresentationFormat>
  <Paragraphs>41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Quicksand</vt:lpstr>
      <vt:lpstr>Office Theme</vt:lpstr>
      <vt:lpstr>Gracias!</vt:lpstr>
      <vt:lpstr>Introducción a la Estadística Evidencial</vt:lpstr>
      <vt:lpstr>¿Qué es la Estadística Evidencial?</vt:lpstr>
      <vt:lpstr>Ejemplo: El efecto de las alarmas en la jungla </vt:lpstr>
      <vt:lpstr>Datos</vt:lpstr>
      <vt:lpstr>Variable aleatoria</vt:lpstr>
      <vt:lpstr>Medida de probabilidad</vt:lpstr>
      <vt:lpstr>La función de verosmilitud</vt:lpstr>
      <vt:lpstr>Máximo Verosímil (MLE)</vt:lpstr>
      <vt:lpstr>Función de verosimilitud</vt:lpstr>
      <vt:lpstr>Test de razones de verosimilitud Likelihood ratio test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Zenil-Ferguson, Rosana</dc:creator>
  <cp:lastModifiedBy>Zenil-Ferguson, Rosana</cp:lastModifiedBy>
  <cp:revision>3</cp:revision>
  <dcterms:created xsi:type="dcterms:W3CDTF">2025-06-20T02:09:20Z</dcterms:created>
  <dcterms:modified xsi:type="dcterms:W3CDTF">2025-06-20T02:42:30Z</dcterms:modified>
</cp:coreProperties>
</file>